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c74c809a-7cc3-f2b4-9589-8a8bae47c7bc}">
          <p14:sldIdLst>
            <p14:sldId id="256"/>
            <p14:sldId id="257"/>
            <p14:sldId id="258"/>
            <p14:sldId id="259"/>
          </p14:sldIdLst>
        </p14:section>
        <p14:section name="Sistema" id="{ad5e868c-33f4-b962-2eb5-5ef6e663ab3f}">
          <p14:sldIdLst>
            <p14:sldId id="260"/>
            <p14:sldId id="261"/>
            <p14:sldId id="262"/>
          </p14:sldIdLst>
        </p14:section>
        <p14:section name="Algoritmos" id="{6f71706b-59f8-07ec-6a36-a65dceab27d4}">
          <p14:sldIdLst>
            <p14:sldId id="263"/>
            <p14:sldId id="264"/>
            <p14:sldId id="265"/>
            <p14:sldId id="266"/>
          </p14:sldIdLst>
        </p14:section>
        <p14:section name="Interfaz" id="{91888b9f-5fcc-2fe9-09f2-2c0da5651360}">
          <p14:sldIdLst>
            <p14:sldId id="267"/>
            <p14:sldId id="268"/>
          </p14:sldIdLst>
        </p14:section>
        <p14:section name="Robustez" id="{bacfffd5-84c8-16af-7e26-8490770718d7}">
          <p14:sldIdLst>
            <p14:sldId id="269"/>
          </p14:sldIdLst>
        </p14:section>
        <p14:section name="Pruebas" id="{ea36fe06-0a87-2fb9-2380-d014cd1b8a8c}">
          <p14:sldIdLst>
            <p14:sldId id="270"/>
          </p14:sldIdLst>
        </p14:section>
        <p14:section name="Resultados" id="{a44e2de5-5f33-d3fe-8bdd-99acc189dec1}">
          <p14:sldIdLst>
            <p14:sldId id="271"/>
          </p14:sldIdLst>
        </p14:section>
        <p14:section name="Cierre" id="{61a6219e-1db7-0441-b142-f67b7af630c5}">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fotografía del prototipo armado sobre la mesa, con un dedo sobre el sensor y la pantalla encendida (pendiente: F5).
Guion (≈ 30 s): Buenos días. Les presento el monitor experimental de frecuencia cardiaca y SpO₂ que desarrollé para la materia de Sistemas de Información Hospitalaria. Es un prototipo académico construido con un ESP32, un sensor óptico MAX30102 y una pantalla TFT de 1.8 pulgadas. Quiero dejar claro desde el inicio que no es un dispositivo médico: el objetivo es entender y verificar la cadena completa de un monitor de pulso, no sustituir a uno clínico. La versión que voy a describir es el firmware de la Etapa 9, identificado por su MD5.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recuadro con la pregunta del proyecto (incluido); opcional, foto de un oxímetro comercial junto al prototipo.
Guion (≈ 40 s): Un oxímetro comercial es una caja cerrada: da un número, pero no deja ver cómo lo calculó ni cuándo deja de ser confiable. Para un ingeniero clínico, entender esa cadena es la base para evaluar equipos y reconocer artefactos. El problema tiene cuatro partes: obtener una señal óptica limpia, que cambia con el tejido y el movimiento; calcular el BPM y la SpO₂; mostrarlos sin interrumpir la lectura, porque el sensor solo guarda unos 320 milisegundos de datos; y detectar cuándo el sensor falla para no mostrar valores congelados. La pregunta del proyecto resume esto: cómo obtener los valores y ocultarlos cuando no son confiables.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cadena de tres bloques "dispositivo → dato con estado → sistema de información" (incluida; el tercer bloque, punteado, no está implementado).
Guion (≈ 40 s): ¿Por qué hacerlo? Primero, porque hace visibles los pasos que un monitor comercial oculta: la luz, la señal, el pulso, la razón R y el valor final. Segundo, porque obliga a tratar la calidad del dato y su estado de validez, algo central en un sistema de información hospitalaria: un valor sin estado no sirve para un registro clínico. Tercero, porque es barato y repetible. En la cadena de información, este prototipo cubre los dos primeros eslabones: genera el dato y le asigna un estado. El tercero, enviarlo a un sistema de información, no está implementado y lo presento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tabla de objetivos con su estado de verificación (incluida).
Guion (≈ 45 s): El objetivo general es adquirir la señal PPG roja e infrarroja, estimar el BPM y una SpO₂ experimental, evaluar la calidad y mostrar todo en la pantalla, ocultando lo que no sea confiable. Lo dividí en objetivos específicos, y a la derecha indico cómo se verificó cada uno, porque no todos tienen el mismo nivel de evidencia. La adquisición y el filtrado se validaron en el hardware. La SpO₂ también se probó en el hardware, pero solo contra criterios internos, sin un oxímetro de referencia. La robustez de la Etapa 9 solo se ha probado en simulación; sus pruebas físicas están 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diagrama de bloques sensor → ESP32 → TFT con la computadora por USB (incluido; es el mismo del capítulo 12 de la documentación técnica).
Guion (≈ 45 s): La arquitectura es sencilla. El sensor MAX30102 tiene dos LED, rojo e infrarrojo, un fotodiodo y un convertidor de 18 bits; guarda las muestras en un FIFO de 32. El ESP32 lo lee por I²C a 400 kilohertz y hace todo el trabajo en seis bloques: adquisición cada 10 milisegundos, procesamiento PPG, detección de pulsos, cálculo de R y SpO₂, calidad e interfaz, y la vigilancia que agregué en la Etapa 9. La pantalla recibe los datos por SPI a 16 megahertz. La computadora solo se usa para enviar comandos y leer diagnósticos por el Monitor Serie; no participa en la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fotografía de los tres módulos sobre la protoboard con sus etiquetas (pendiente: F5).
Guion (≈ 40 s): El hardware son tres módulos y un condensador. El ESP32-WROOM-32 hace todo el procesamiento. El MAX30102 es el sensor óptico, en la dirección I²C 0x57. La pantalla es una TFT de 1.8 pulgadas con controlador ST7735, que en mi módulo requiere la variante BLACKTAB. Hay un condensador electrolítico de 470 microfaradios como reserva de carga; el punto exacto donde está conectado lo tengo pendiente de documentar. Todo trabaja a 3.3 volts. No uso el pin de interrupción del sensor ni la microSD, y el prototipo no tiene WiFi, Bluetooth, alarmas ni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esquema de cableado con colores por bus (I²C en un color, SPI en otro) o fotografía del cableado real (pendiente: F5).
Guion (≈ 40 s): Estas son las conexiones reales. El sensor va al bus I²C: alimentación de 3.3 volts, tierra, SDA al GPIO21 y SCL al GPIO22; INT y RD quedan sin conectar. La pantalla va al bus SPI: reloj al GPIO18, datos al GPIO23, A0 al 16, reset al 17 y chip select al 5, con VCC y la retroiluminación a 3.3 volts. Un detalle que confunde a cualquiera que arme el circuito: los dos módulos tienen un pin llamado SDA, pero no son lo mismo. En el sensor es la línea de datos de I²C; en la pantalla es la salida de datos de SPI, es decir, MOSI. Las mismas conexiones están escritas en la cabecera del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captura del Serial Plotter (modo k o g) con la onda PPG IR y roja del prototipo real (pendiente: F5); los tres datos de la derecha son resultados medidos en la Etapa 4.1.
Guion (≈ 45 s): El MAX30102 trabaja por reflexión: el LED y el fotodiodo están del mismo lado y el dedo se apoya encima. La luz que regresa tiene una parte casi constante, la DC, que viene del tejido y de la sangre que no pulsa, y una parte que oscila con cada latido, la AC. Usamos dos colores, rojo e infrarrojo, porque la hemoglobina oxigenada y la desoxigenada absorben distinto en cada uno. El sensor muestrea a 400 por segundo y promedia de cuatro en cuatro. En la Etapa 4.1 medimos 99.1 muestras por segundo sin pérdidas. El infrarrojo dio casi tres veces más amplitud que el rojo, y la señal con dedo fue 55 veces mayor que sin dedo.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cadena de filtrado (incluida, a la izquierda) y, opcional, la respuesta en frecuencia de los dos filtros calculada con scipy.
Guion (≈ 45 s): Cada muestra recorre la misma cadena. Primero se resta la componente DC, que se estima con una constante de tiempo de un segundo. Después pasa por un pasa-altas de 0.5 hertz, que atenúa la deriva lenta, y un pasa-bajas de 5 hertz, que quita el ruido; ambos son Butterworth de segundo orden. El resultado es la componente AC; la invertimos para que el pico sistólico quede hacia arriba. Si hay un escalón brusco, por ejemplo al poner o quitar el dedo, los filtros se reinician y hay dos segundos de estabilización. En las pruebas en PC, los coeficientes coincidieron con los de scipy con un error menor a una cienmilésima, y la salida de los filtros con un error relativo menor a una diezmilésima.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captura del Serial Plotter en modo k (PPG, umbral y picos detectados) del prototipo real (pendiente: F5); a la derecha, los tres estados del BPM (incluidos).
Guion (≈ 50 s): Para detectar pulsos uso tres criterios. Primero, un umbral adaptativo: la mitad de una envolvente que sigue la amplitud de la señal. Segundo, la prominencia: el pico tiene que subir al menos la mitad de la envolvente desde el valle de su propio ciclo; así se descarta la muesca dicrótica. Tercero, un periodo refractario. Cada intervalo se acepta solo si está entre 40 y 180 BPM y no se aleja más de 30 % de la mediana reciente. El BPM mostrado es 60000 entre la media de hasta ocho intervalos. Y solo se muestra en el estado BPM VÁLIDO, que exige cinco intervalos aceptados seguidos con poca variación. La exactitud frente a un conteo manual, la prueba H5, está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la curva R → SpO₂ entre R = 0.34 y 1.15, marcando el valor medido R ≈ 0.375 (Etapa 6.2) en la zona casi plana.
Guion (≈ 55 s): Para la SpO₂, en cada latido aceptado calculo la razón R: la pulsatilidad relativa del rojo entre la del infrarrojo. El estimador principal es una regresión entre las dos señales en todo el latido, porque es menos sensible al ruido que el pico a pico; el pico a pico y el RMS quedan como verificación cruzada. Cada latido tiene que cumplir cinco criterios de calidad y dar un R entre 0.34 y 1.15. Se muestra la mediana de los últimos ocho R válidos, y solo si hay al menos cinco y varían menos de 10 %. La conversión usa la curva genérica de Maxim. Y aquí está el punto más importante de la presentación: esos coeficientes no están calibrados para este módulo, así que el número es una estimación experimental, no una medición clínica.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fotografía real de la pantalla en cada estado de calidad (pendiente: F5, prueba H7). La imagen de la derecha es una pantalla simulada en PC (Etapa 8.2): muestra la distribución y sus valores son ilustrativos, no medidos.
Guion (≈ 45 s): La pantalla es de 128 por 160 píxeles y usa la distribución B: arriba el BPM en verde, después la SpO₂ con un decimal en cian, luego la calidad de la señal, la onda PPG y un pie que dice "estimación experimental". Para no interrumpir la lectura del sensor, la pantalla nunca se borra completa durante la medición: los estados se revisan cada 250 milisegundos y cada campo se redibuja como máximo dos veces por segundo, solo si cambió. En la Etapa 7.3 el peor caso de dibujo fue de unos 18 milisegundos. Al encender aparece durante tres segundos el aviso de que no es un dispositivo médico.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video corto de la gráfica barriendo la pantalla real con el dedo puesto (pendiente: F5, prueba H8).
Guion (≈ 40 s): La gráfica PPG se agregó en la Etapa 8.2 con una regla: no hacer otra adquisición. Lee el mismo búfer que ya existía para calcular R. Promedia cuatro muestras por columna, así que avanza unas 25 columnas por segundo y recorre la pantalla en unos cinco segundos. La escala se ajusta sola: crece de inmediato si la señal aumenta y se reduce despacio para no saltar. El color indica la calidad: verde cuando es buena o regular, gris cuando se está buscando, y una línea plana cuando no hay dedo. Dibujar una columna tomó 142 microsegundos en la Etapa 7.1, pero la velocidad real del barrido en la versión actual todavía está pendiente de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secuencia de pantallas de la falla del sensor (incluida; es una simulación en PC). Para la entrega final, sustituir o acompañar con fotos reales de la prueba H10 (pendiente).
Guion (≈ 55 s): La Etapa 9 resolvió un problema que antes pasaba inadvertido: si el sensor dejaba de enviar muestras, la pantalla se quedaba con el último BPM y la última SpO₂, como si siguieran vigentes. Agregué cuatro mejoras sin tocar los algoritmos validados. P1: si pasa un segundo sin muestras, se ocultan los valores y aparece "SENSOR NO RESPONDE". P2: a los tres segundos se reinicializa el sensor, sin reiniciar el microcontrolador. P3 registra el arranque por separado, para saber si las pérdidas ocurren al encender o durante la operación. P4 usa sumas de 64 bits para pruebas largas. La imagen muestra la secuencia, pero es una simulación en PC: la prueba física H10, desconectando el cable de datos, está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los tres niveles de prueba con su estado (incluidos); opcional, la salida en consola de run_tests.sh.
Guion (≈ 45 s): El plan de pruebas de la Etapa 10 tiene tres niveles. El primero son pruebas unitarias en la computadora: las 45 funciones de cálculo, comparadas con valores que calculé por separado en Python. Ese nivel ya está ejecutado y aprobaron los 116 casos. El segundo son pruebas de integración en la computadora, con simuladores del sensor y de la pantalla; están definidas pero pendientes. El tercero son 14 pruebas físicas con el hardware real, también pendientes. Hay dos reglas: ninguna prueba modifica el firmware, y lo compruebo con el MD5 antes y después; y la cobertura de 85 % es un objetivo, no un requisito para aprobar.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tabla de resultados con el tipo de evidencia (incluida); opcional, la curva R→SpO₂ con el punto R ≈ 0.375 para explicar la observación de la Etapa 6.2.
Guion (≈ 60 s): Estos son los resultados reales, separados por tipo. En hardware, la prueba de señal de la Etapa 4.1 dio 99.1 muestras por segundo, sin pérdidas, con una correlación entre rojo e infrarrojo de 0.98. La prueba de SpO₂ de la 6.2 dio 35 latidos válidos, con R estable, CV de 4 %, pero una SpO₂ media de 99.9 %. Ese valor está en la zona plana de la curva y sugiere que la curva sobreestima para este módulo; por eso lo marco con observaciones. La pantalla dibuja en unos 18 milisegundos en el peor caso. En la 7.3 hubo errores I²C al principio y quedaron 14 pérdidas acumuladas cuyo origen está pendiente. En PC, la Categoría 1 aprobó completa. Y lo más importante: la versión actual, la Etapa 9, todavía no tiene pruebas físicas.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ninguna; es una diapositiva de declaración.
Guion (≈ 45 s): Quiero ser explícito con las limitaciones. Este prototipo no es un dispositivo médico certificado y no sustituye a un monitor clínico. La SpO₂ no tiene validación clínica: la curva es genérica y no la comparé con un oxímetro de referencia. Por lo tanto, la exactitud clínica no está demostrada, ni para la SpO₂ ni para el BPM, y el equipo no debe usarse para diagnóstico. En lo técnico, la versión actual no tiene pruebas físicas, los filtros usan la frecuencia nominal y no hay alarmas ni registro. El valor del proyecto está en la adquisición, el procesamiento, la visualización y la validación experimental.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fotografía final del prototipo funcionando (pendiente: F5).
Guion (≈ 45 s): Para cerrar. Construí la cadena completa de un monitor de pulso, del sensor a la pantalla, con un firmware de 154 funciones en el que cada capacidad se puede rastrear hasta su línea de código. La adquisición y la señal PPG quedaron validadas en el hardware. La razón R es estable en reposo, pero la SpO₂ que se deriva de ella sigue siendo una estimación experimental. La pantalla no interfiere con la lectura y, sobre todo, oculta los valores cuando no son confiables. Y, con honestidad: el proyecto no está completamente validado, porque las pruebas físicas de la versión actual siguen 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tres columnas de trabajo futuro (incluidas).
Guion (≈ 40 s): El trabajo futuro tiene tres líneas. La primera es cerrar la validación: ejecutar las 14 pruebas físicas y las pruebas de integración en la computadora. La segunda es mejorar la medición: calibrar la curva de SpO₂ contra un oxímetro de referencia, recalcular los filtros con la frecuencia medida y controlar la corriente de los LED automáticamente. La tercera conecta con la materia: enviar el valor, su calidad y su estado a un sistema de información hospitalaria, por ejemplo con HL7 FHIR, que hoy no está implementado. Cualquiera de estos cambios exigiría una nueva versión del firmware y repetir su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sugerida: ninguna; opcional, tener el prototipo encendido en la mesa para una demostración.
Guion (≈ 15 s): Muchas gracias. Con esto termino. La documentación técnica, el manual de usuario, el plan de pruebas y el expediente de evidencias están disponibles para su revisión. Quedo atento a sus preguntas.
Preguntas probables y respuesta corta:
1) ¿Qué tan exacta es la SpO₂? No se ha demostrado; no hubo oxímetro de referencia y la curva es genérica.
2) ¿Por qué 99.9 %? R ≈ 0.375 cae en la zona plana de la curva; el firmware advierte que probablemente sobreestima.
3) ¿Qué pasa si se mueve el dedo? Un escalón reinicia los filtros; el BPM vuelve a ESTABILIZANDO y no se muestra un valor dudoso.
4) ¿Qué falta para validarlo? Las 14 pruebas físicas H0–H13 y las de integración en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3" name="Text 0"/>
          <p:cNvSpPr/>
          <p:nvPr>
            <p:ph idx="101" type="title" hasCustomPrompt="1"/>
          </p:nvPr>
        </p:nvSpPr>
        <p:spPr>
          <a:xfrm>
            <a:off x="548640" y="1371600"/>
            <a:ext cx="11094415"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9144000" cy="274320"/>
          </a:xfrm>
          <a:prstGeom prst="rect">
            <a:avLst/>
          </a:prstGeom>
          <a:noFill/>
          <a:ln/>
        </p:spPr>
        <p:txBody>
          <a:bodyPr wrap="square"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Monitor experimental PPG · Etapa 9 · Prototipo académico, no es un dispositivo médico</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457200"/>
          </a:xfrm>
          <a:prstGeom prst="rect">
            <a:avLst/>
          </a:prstGeom>
          <a:noFill/>
          <a:ln/>
        </p:spPr>
        <p:txBody>
          <a:bodyPr wrap="square" rtlCol="0"/>
          <a:lstStyle/>
          <a:p>
            <a:pPr indent="0" marL="0">
              <a:buNone/>
            </a:pPr>
            <a:r>
              <a:rPr lang="en-US" sz="1600" dirty="0">
                <a:solidFill>
                  <a:schemeClr val="accent4"/>
                </a:solidFill>
              </a:rPr>
              <a:t>Maestría en Ingeniería Clínica · Sistemas de Información Hospitalaria</a:t>
            </a:r>
            <a:endParaRPr lang="en-US" sz="1600" dirty="0"/>
          </a:p>
        </p:txBody>
      </p:sp>
      <p:sp>
        <p:nvSpPr>
          <p:cNvPr id="3" name="Text 0"/>
          <p:cNvSpPr/>
          <p:nvPr>
            <p:ph idx="101" type="title" hasCustomPrompt="1"/>
          </p:nvPr>
        </p:nvSpPr>
        <p:spPr>
          <a:xfrm>
            <a:off x="548640" y="1371600"/>
            <a:ext cx="11094415" cy="1737360"/>
          </a:xfrm>
          <a:prstGeom prst="rect">
            <a:avLst/>
          </a:prstGeom>
          <a:noFill/>
          <a:ln/>
        </p:spPr>
        <p:txBody>
          <a:bodyPr wrap="square" rtlCol="0" anchor="t"/>
          <a:lstStyle/>
          <a:p>
            <a:pPr algn="l" indent="0" marL="0">
              <a:buNone/>
            </a:pPr>
            <a:r>
              <a:rPr lang="en-US" sz="4000" b="1" dirty="0">
                <a:solidFill>
                  <a:schemeClr val="bg1"/>
                </a:solidFill>
              </a:rPr>
              <a:t>Monitor experimental de frecuencia cardiaca y SpO₂ mediante señal PPG</a:t>
            </a:r>
            <a:endParaRPr lang="en-US" sz="4000" dirty="0"/>
          </a:p>
        </p:txBody>
      </p:sp>
      <p:sp>
        <p:nvSpPr>
          <p:cNvPr id="4" name="Text 2"/>
          <p:cNvSpPr txBox="1"/>
          <p:nvPr/>
        </p:nvSpPr>
        <p:spPr>
          <a:xfrm>
            <a:off x="548640" y="3200400"/>
            <a:ext cx="8229600" cy="457200"/>
          </a:xfrm>
          <a:prstGeom prst="rect">
            <a:avLst/>
          </a:prstGeom>
          <a:noFill/>
          <a:ln/>
        </p:spPr>
        <p:txBody>
          <a:bodyPr wrap="square" lIns="0" tIns="0" rIns="0" bIns="0" rtlCol="0" anchor="ctr"/>
          <a:lstStyle/>
          <a:p>
            <a:pPr indent="0" marL="0">
              <a:buNone/>
            </a:pPr>
            <a:r>
              <a:rPr lang="en-US" sz="2200" dirty="0">
                <a:solidFill>
                  <a:srgbClr val="CADCE6"/>
                </a:solidFill>
              </a:rPr>
              <a:t>ESP32 · MAX30102 · TFT ST7735 de 1.8"</a:t>
            </a:r>
            <a:endParaRPr lang="en-US" sz="2200" dirty="0"/>
          </a:p>
        </p:txBody>
      </p:sp>
      <p:sp>
        <p:nvSpPr>
          <p:cNvPr id="5" name="Text 3"/>
          <p:cNvSpPr txBox="1"/>
          <p:nvPr/>
        </p:nvSpPr>
        <p:spPr>
          <a:xfrm>
            <a:off x="548640" y="3931920"/>
            <a:ext cx="8229600" cy="822960"/>
          </a:xfrm>
          <a:prstGeom prst="rect">
            <a:avLst/>
          </a:prstGeom>
          <a:noFill/>
          <a:ln/>
        </p:spPr>
        <p:txBody>
          <a:bodyPr wrap="square" lIns="0" tIns="0" rIns="0" bIns="0" rtlCol="0" anchor="ctr"/>
          <a:lstStyle/>
          <a:p>
            <a:pPr indent="0" marL="0">
              <a:buNone/>
            </a:pPr>
            <a:r>
              <a:rPr lang="en-US" sz="1600" dirty="0">
                <a:solidFill>
                  <a:srgbClr val="CADCE6"/>
                </a:solidFill>
              </a:rPr>
              <a:t>[Autor] · [Institución]</a:t>
            </a:r>
            <a:endParaRPr lang="en-US" sz="1600" dirty="0"/>
          </a:p>
          <a:p>
            <a:pPr indent="0" marL="0">
              <a:buNone/>
            </a:pPr>
            <a:r>
              <a:rPr lang="en-US" sz="1600" dirty="0">
                <a:solidFill>
                  <a:srgbClr val="CADCE6"/>
                </a:solidFill>
              </a:rPr>
              <a:t>[Profesor] · [Fecha de presentación]</a:t>
            </a:r>
            <a:endParaRPr lang="en-US" sz="1600" dirty="0"/>
          </a:p>
        </p:txBody>
      </p:sp>
      <p:sp>
        <p:nvSpPr>
          <p:cNvPr id="6" name="Text 4"/>
          <p:cNvSpPr txBox="1"/>
          <p:nvPr/>
        </p:nvSpPr>
        <p:spPr>
          <a:xfrm>
            <a:off x="548640" y="5029200"/>
            <a:ext cx="8229600" cy="365760"/>
          </a:xfrm>
          <a:prstGeom prst="rect">
            <a:avLst/>
          </a:prstGeom>
          <a:noFill/>
          <a:ln/>
        </p:spPr>
        <p:txBody>
          <a:bodyPr wrap="square" lIns="0" tIns="0" rIns="0" bIns="0" rtlCol="0" anchor="ctr"/>
          <a:lstStyle/>
          <a:p>
            <a:pPr indent="0" marL="0">
              <a:buNone/>
            </a:pPr>
            <a:r>
              <a:rPr lang="en-US" sz="1300" dirty="0">
                <a:solidFill>
                  <a:srgbClr val="8A96A8"/>
                </a:solidFill>
                <a:latin typeface="Courier New" pitchFamily="34" charset="0"/>
                <a:ea typeface="Courier New" pitchFamily="34" charset="-122"/>
                <a:cs typeface="Courier New" pitchFamily="34" charset="-120"/>
              </a:rPr>
              <a:t>Firmware Etapa9.ino · MD5 4d70eb1aef89be2d7ab61ec6d39b9f12</a:t>
            </a:r>
            <a:endParaRPr lang="en-US" sz="1300" dirty="0"/>
          </a:p>
        </p:txBody>
      </p:sp>
      <p:sp>
        <p:nvSpPr>
          <p:cNvPr id="7" name="Shape 5"/>
          <p:cNvSpPr/>
          <p:nvPr/>
        </p:nvSpPr>
        <p:spPr>
          <a:xfrm>
            <a:off x="548640" y="5623560"/>
            <a:ext cx="5669280" cy="548640"/>
          </a:xfrm>
          <a:prstGeom prst="roundRect">
            <a:avLst>
              <a:gd name="adj" fmla="val 16667"/>
            </a:avLst>
          </a:prstGeom>
          <a:solidFill>
            <a:srgbClr val="C2571A"/>
          </a:solidFill>
          <a:ln w="12700">
            <a:solidFill>
              <a:srgbClr val="C2571A"/>
            </a:solidFill>
            <a:prstDash val="solid"/>
          </a:ln>
        </p:spPr>
      </p:sp>
      <p:sp>
        <p:nvSpPr>
          <p:cNvPr id="8" name="Text 6"/>
          <p:cNvSpPr txBox="1"/>
          <p:nvPr/>
        </p:nvSpPr>
        <p:spPr>
          <a:xfrm>
            <a:off x="731520" y="5623560"/>
            <a:ext cx="5303520" cy="548640"/>
          </a:xfrm>
          <a:prstGeom prst="rect">
            <a:avLst/>
          </a:prstGeom>
          <a:noFill/>
          <a:ln/>
        </p:spPr>
        <p:txBody>
          <a:bodyPr wrap="square" lIns="0" tIns="0" rIns="0" bIns="0" rtlCol="0" anchor="ctr"/>
          <a:lstStyle/>
          <a:p>
            <a:pPr indent="0" marL="0">
              <a:buNone/>
            </a:pPr>
            <a:r>
              <a:rPr lang="en-US" sz="1600" b="1" dirty="0">
                <a:solidFill>
                  <a:srgbClr val="FFFFFF"/>
                </a:solidFill>
              </a:rPr>
              <a:t>Prototipo académico · No es un dispositivo médico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CONTEXTO</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Problema</a:t>
            </a:r>
            <a:endParaRPr lang="en-US" sz="3400" dirty="0"/>
          </a:p>
        </p:txBody>
      </p:sp>
      <p:sp>
        <p:nvSpPr>
          <p:cNvPr id="4" name="Viñetas"/>
          <p:cNvSpPr txBox="1"/>
          <p:nvPr/>
        </p:nvSpPr>
        <p:spPr>
          <a:xfrm>
            <a:off x="548640" y="1600200"/>
            <a:ext cx="6583680" cy="4389120"/>
          </a:xfrm>
          <a:prstGeom prst="rect">
            <a:avLst/>
          </a:prstGeom>
          <a:noFill/>
          <a:ln/>
        </p:spPr>
        <p:txBody>
          <a:bodyPr wrap="square" rtlCol="0" anchor="t"/>
          <a:lstStyle/>
          <a:p>
            <a:pPr marL="342900" indent="-342900">
              <a:spcAft>
                <a:spcPts val="1000"/>
              </a:spcAft>
              <a:buSzPct val="100000"/>
              <a:buChar char="•"/>
            </a:pPr>
            <a:r>
              <a:rPr lang="en-US" sz="1800" dirty="0">
                <a:solidFill>
                  <a:schemeClr val="tx2"/>
                </a:solidFill>
              </a:rPr>
              <a:t>Un oxímetro comercial entrega un número, pero no muestra cómo lo obtuvo ni cuándo deja de ser confiable.</a:t>
            </a:r>
            <a:endParaRPr lang="en-US" sz="1800" dirty="0"/>
          </a:p>
          <a:p>
            <a:pPr marL="342900" indent="-342900">
              <a:spcAft>
                <a:spcPts val="1000"/>
              </a:spcAft>
              <a:buSzPct val="100000"/>
              <a:buChar char="•"/>
            </a:pPr>
            <a:r>
              <a:rPr lang="en-US" sz="1800" dirty="0">
                <a:solidFill>
                  <a:schemeClr val="tx2"/>
                </a:solidFill>
              </a:rPr>
              <a:t>La señal óptica cambia con el tejido, la presión del dedo y el movimiento.</a:t>
            </a:r>
            <a:endParaRPr lang="en-US" sz="1800" dirty="0"/>
          </a:p>
          <a:p>
            <a:pPr marL="342900" indent="-342900">
              <a:spcAft>
                <a:spcPts val="1000"/>
              </a:spcAft>
              <a:buSzPct val="100000"/>
              <a:buChar char="•"/>
            </a:pPr>
            <a:r>
              <a:rPr lang="en-US" sz="1800" dirty="0">
                <a:solidFill>
                  <a:schemeClr val="tx2"/>
                </a:solidFill>
              </a:rPr>
              <a:t>El FIFO del sensor guarda solo ≈ 320 ms de datos: la pantalla no puede bloquear la lectura.</a:t>
            </a:r>
            <a:endParaRPr lang="en-US" sz="1800" dirty="0"/>
          </a:p>
          <a:p>
            <a:pPr marL="342900" indent="-342900">
              <a:spcAft>
                <a:spcPts val="1000"/>
              </a:spcAft>
              <a:buSzPct val="100000"/>
              <a:buChar char="•"/>
            </a:pPr>
            <a:r>
              <a:rPr lang="en-US" sz="1800" dirty="0">
                <a:solidFill>
                  <a:schemeClr val="tx2"/>
                </a:solidFill>
              </a:rPr>
              <a:t>Si el sensor deja de responder, la pantalla puede quedarse con valores congelados.</a:t>
            </a:r>
            <a:endParaRPr lang="en-US" sz="1800" dirty="0"/>
          </a:p>
        </p:txBody>
      </p:sp>
      <p:sp>
        <p:nvSpPr>
          <p:cNvPr id="5" name="Tarjeta Pregunta del proyecto"/>
          <p:cNvSpPr/>
          <p:nvPr/>
        </p:nvSpPr>
        <p:spPr>
          <a:xfrm>
            <a:off x="7589520" y="1828800"/>
            <a:ext cx="4023360" cy="2926080"/>
          </a:xfrm>
          <a:prstGeom prst="roundRect">
            <a:avLst>
              <a:gd name="adj" fmla="val 3750"/>
            </a:avLst>
          </a:prstGeom>
          <a:solidFill>
            <a:srgbClr val="E3EEF2"/>
          </a:solidFill>
          <a:ln w="12700">
            <a:solidFill>
              <a:srgbClr val="E3EEF2"/>
            </a:solidFill>
            <a:prstDash val="solid"/>
          </a:ln>
        </p:spPr>
      </p:sp>
      <p:sp>
        <p:nvSpPr>
          <p:cNvPr id="6" name="Text 4"/>
          <p:cNvSpPr txBox="1"/>
          <p:nvPr/>
        </p:nvSpPr>
        <p:spPr>
          <a:xfrm>
            <a:off x="7772400" y="1965960"/>
            <a:ext cx="36576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Pregunta del proyecto</a:t>
            </a:r>
            <a:endParaRPr lang="en-US" sz="1800" dirty="0"/>
          </a:p>
        </p:txBody>
      </p:sp>
      <p:sp>
        <p:nvSpPr>
          <p:cNvPr id="7" name="Text 5"/>
          <p:cNvSpPr txBox="1"/>
          <p:nvPr/>
        </p:nvSpPr>
        <p:spPr>
          <a:xfrm>
            <a:off x="7772400" y="2423160"/>
            <a:ext cx="3657600" cy="2194560"/>
          </a:xfrm>
          <a:prstGeom prst="rect">
            <a:avLst/>
          </a:prstGeom>
          <a:noFill/>
          <a:ln/>
        </p:spPr>
        <p:txBody>
          <a:bodyPr wrap="square" lIns="0" tIns="0" rIns="0" bIns="0" rtlCol="0" anchor="t"/>
          <a:lstStyle/>
          <a:p>
            <a:pPr indent="0" marL="0">
              <a:buNone/>
            </a:pPr>
            <a:r>
              <a:rPr lang="en-US" sz="2000" dirty="0">
                <a:solidFill>
                  <a:schemeClr val="tx2"/>
                </a:solidFill>
              </a:rPr>
              <a:t>¿Cómo obtener BPM y SpO₂ de una señal PPG y ocultarlos cuando no son confiables?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CONTEXTO</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Justificación</a:t>
            </a:r>
            <a:endParaRPr lang="en-US" sz="3400" dirty="0"/>
          </a:p>
        </p:txBody>
      </p:sp>
      <p:sp>
        <p:nvSpPr>
          <p:cNvPr id="4" name="Viñetas"/>
          <p:cNvSpPr txBox="1"/>
          <p:nvPr/>
        </p:nvSpPr>
        <p:spPr>
          <a:xfrm>
            <a:off x="548640" y="1600200"/>
            <a:ext cx="11094415" cy="2194560"/>
          </a:xfrm>
          <a:prstGeom prst="rect">
            <a:avLst/>
          </a:prstGeom>
          <a:noFill/>
          <a:ln/>
        </p:spPr>
        <p:txBody>
          <a:bodyPr wrap="square" rtlCol="0" anchor="t"/>
          <a:lstStyle/>
          <a:p>
            <a:pPr marL="342900" indent="-342900">
              <a:spcAft>
                <a:spcPts val="1000"/>
              </a:spcAft>
              <a:buSzPct val="100000"/>
              <a:buChar char="•"/>
            </a:pPr>
            <a:r>
              <a:rPr lang="en-US" sz="1800" dirty="0">
                <a:solidFill>
                  <a:schemeClr val="tx2"/>
                </a:solidFill>
              </a:rPr>
              <a:t>Hace visible cada paso de un monitor de pulso: luz, señal, pulso, R y valor final.</a:t>
            </a:r>
            <a:endParaRPr lang="en-US" sz="1800" dirty="0"/>
          </a:p>
          <a:p>
            <a:pPr marL="342900" indent="-342900">
              <a:spcAft>
                <a:spcPts val="1000"/>
              </a:spcAft>
              <a:buSzPct val="100000"/>
              <a:buChar char="•"/>
            </a:pPr>
            <a:r>
              <a:rPr lang="en-US" sz="1800" dirty="0">
                <a:solidFill>
                  <a:schemeClr val="tx2"/>
                </a:solidFill>
              </a:rPr>
              <a:t>Trata la calidad del dato y su estado de validez: válido, estabilizando o sin señal.</a:t>
            </a:r>
            <a:endParaRPr lang="en-US" sz="1800" dirty="0"/>
          </a:p>
          <a:p>
            <a:pPr marL="342900" indent="-342900">
              <a:spcAft>
                <a:spcPts val="1000"/>
              </a:spcAft>
              <a:buSzPct val="100000"/>
              <a:buChar char="•"/>
            </a:pPr>
            <a:r>
              <a:rPr lang="en-US" sz="1800" dirty="0">
                <a:solidFill>
                  <a:schemeClr val="tx2"/>
                </a:solidFill>
              </a:rPr>
              <a:t>Usa componentes de bajo costo y un firmware trazable, repetible con fines docentes.</a:t>
            </a:r>
            <a:endParaRPr lang="en-US" sz="1800" dirty="0"/>
          </a:p>
        </p:txBody>
      </p:sp>
      <p:sp>
        <p:nvSpPr>
          <p:cNvPr id="5" name="Tarjeta 1. Dispositivo"/>
          <p:cNvSpPr/>
          <p:nvPr/>
        </p:nvSpPr>
        <p:spPr>
          <a:xfrm>
            <a:off x="548640" y="3977640"/>
            <a:ext cx="3383280" cy="1737360"/>
          </a:xfrm>
          <a:prstGeom prst="roundRect">
            <a:avLst>
              <a:gd name="adj" fmla="val 6316"/>
            </a:avLst>
          </a:prstGeom>
          <a:solidFill>
            <a:srgbClr val="E3EEF2"/>
          </a:solidFill>
          <a:ln w="12700">
            <a:solidFill>
              <a:srgbClr val="E3EEF2"/>
            </a:solidFill>
            <a:prstDash val="solid"/>
          </a:ln>
        </p:spPr>
      </p:sp>
      <p:sp>
        <p:nvSpPr>
          <p:cNvPr id="6" name="Text 4"/>
          <p:cNvSpPr txBox="1"/>
          <p:nvPr/>
        </p:nvSpPr>
        <p:spPr>
          <a:xfrm>
            <a:off x="731520" y="4114800"/>
            <a:ext cx="30175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1. Dispositivo</a:t>
            </a:r>
            <a:endParaRPr lang="en-US" sz="1800" dirty="0"/>
          </a:p>
        </p:txBody>
      </p:sp>
      <p:sp>
        <p:nvSpPr>
          <p:cNvPr id="7" name="Text 5"/>
          <p:cNvSpPr txBox="1"/>
          <p:nvPr/>
        </p:nvSpPr>
        <p:spPr>
          <a:xfrm>
            <a:off x="731520" y="4572000"/>
            <a:ext cx="3017520" cy="1005840"/>
          </a:xfrm>
          <a:prstGeom prst="rect">
            <a:avLst/>
          </a:prstGeom>
          <a:noFill/>
          <a:ln/>
        </p:spPr>
        <p:txBody>
          <a:bodyPr wrap="square" lIns="0" tIns="0" rIns="0" bIns="0" rtlCol="0" anchor="t"/>
          <a:lstStyle/>
          <a:p>
            <a:pPr indent="0" marL="0">
              <a:buNone/>
            </a:pPr>
            <a:r>
              <a:rPr lang="en-US" sz="1500" dirty="0">
                <a:solidFill>
                  <a:schemeClr val="tx2"/>
                </a:solidFill>
              </a:rPr>
              <a:t>Genera el dato: este prototipo</a:t>
            </a:r>
            <a:endParaRPr lang="en-US" sz="1500" dirty="0"/>
          </a:p>
        </p:txBody>
      </p:sp>
      <p:sp>
        <p:nvSpPr>
          <p:cNvPr id="8" name="Shape 6"/>
          <p:cNvSpPr/>
          <p:nvPr/>
        </p:nvSpPr>
        <p:spPr>
          <a:xfrm>
            <a:off x="3995928" y="4663440"/>
            <a:ext cx="292608" cy="365760"/>
          </a:xfrm>
          <a:prstGeom prst="rightArrow">
            <a:avLst/>
          </a:prstGeom>
          <a:solidFill>
            <a:srgbClr val="8A96A8"/>
          </a:solidFill>
          <a:ln w="12700">
            <a:solidFill>
              <a:srgbClr val="8A96A8"/>
            </a:solidFill>
            <a:prstDash val="solid"/>
          </a:ln>
        </p:spPr>
      </p:sp>
      <p:sp>
        <p:nvSpPr>
          <p:cNvPr id="9" name="Tarjeta 2. Dato con estado"/>
          <p:cNvSpPr/>
          <p:nvPr/>
        </p:nvSpPr>
        <p:spPr>
          <a:xfrm>
            <a:off x="4343400" y="3977640"/>
            <a:ext cx="3383280" cy="1737360"/>
          </a:xfrm>
          <a:prstGeom prst="roundRect">
            <a:avLst>
              <a:gd name="adj" fmla="val 6316"/>
            </a:avLst>
          </a:prstGeom>
          <a:solidFill>
            <a:srgbClr val="E3EEF2"/>
          </a:solidFill>
          <a:ln w="12700">
            <a:solidFill>
              <a:srgbClr val="E3EEF2"/>
            </a:solidFill>
            <a:prstDash val="solid"/>
          </a:ln>
        </p:spPr>
      </p:sp>
      <p:sp>
        <p:nvSpPr>
          <p:cNvPr id="10" name="Text 8"/>
          <p:cNvSpPr txBox="1"/>
          <p:nvPr/>
        </p:nvSpPr>
        <p:spPr>
          <a:xfrm>
            <a:off x="4526280" y="4114800"/>
            <a:ext cx="30175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2. Dato con estado</a:t>
            </a:r>
            <a:endParaRPr lang="en-US" sz="1800" dirty="0"/>
          </a:p>
        </p:txBody>
      </p:sp>
      <p:sp>
        <p:nvSpPr>
          <p:cNvPr id="11" name="Text 9"/>
          <p:cNvSpPr txBox="1"/>
          <p:nvPr/>
        </p:nvSpPr>
        <p:spPr>
          <a:xfrm>
            <a:off x="4526280" y="4572000"/>
            <a:ext cx="3017520" cy="1005840"/>
          </a:xfrm>
          <a:prstGeom prst="rect">
            <a:avLst/>
          </a:prstGeom>
          <a:noFill/>
          <a:ln/>
        </p:spPr>
        <p:txBody>
          <a:bodyPr wrap="square" lIns="0" tIns="0" rIns="0" bIns="0" rtlCol="0" anchor="t"/>
          <a:lstStyle/>
          <a:p>
            <a:pPr indent="0" marL="0">
              <a:buNone/>
            </a:pPr>
            <a:r>
              <a:rPr lang="en-US" sz="1500" dirty="0">
                <a:solidFill>
                  <a:schemeClr val="tx2"/>
                </a:solidFill>
              </a:rPr>
              <a:t>Valor, calidad y validez: este prototipo</a:t>
            </a:r>
            <a:endParaRPr lang="en-US" sz="1500" dirty="0"/>
          </a:p>
        </p:txBody>
      </p:sp>
      <p:sp>
        <p:nvSpPr>
          <p:cNvPr id="12" name="Shape 10"/>
          <p:cNvSpPr/>
          <p:nvPr/>
        </p:nvSpPr>
        <p:spPr>
          <a:xfrm>
            <a:off x="7790688" y="4663440"/>
            <a:ext cx="292608" cy="365760"/>
          </a:xfrm>
          <a:prstGeom prst="rightArrow">
            <a:avLst/>
          </a:prstGeom>
          <a:solidFill>
            <a:srgbClr val="8A96A8"/>
          </a:solidFill>
          <a:ln w="12700">
            <a:solidFill>
              <a:srgbClr val="8A96A8"/>
            </a:solidFill>
            <a:prstDash val="solid"/>
          </a:ln>
        </p:spPr>
      </p:sp>
      <p:sp>
        <p:nvSpPr>
          <p:cNvPr id="13" name="Tarjeta 3. Sistema de información"/>
          <p:cNvSpPr/>
          <p:nvPr/>
        </p:nvSpPr>
        <p:spPr>
          <a:xfrm>
            <a:off x="8138160" y="3977640"/>
            <a:ext cx="3383280" cy="1737360"/>
          </a:xfrm>
          <a:prstGeom prst="roundRect">
            <a:avLst>
              <a:gd name="adj" fmla="val 6316"/>
            </a:avLst>
          </a:prstGeom>
          <a:solidFill>
            <a:srgbClr val="F1F4F7"/>
          </a:solidFill>
          <a:ln w="12700">
            <a:solidFill>
              <a:srgbClr val="F1F4F7"/>
            </a:solidFill>
            <a:prstDash val="solid"/>
          </a:ln>
        </p:spPr>
      </p:sp>
      <p:sp>
        <p:nvSpPr>
          <p:cNvPr id="14" name="Text 12"/>
          <p:cNvSpPr txBox="1"/>
          <p:nvPr/>
        </p:nvSpPr>
        <p:spPr>
          <a:xfrm>
            <a:off x="8321040" y="4114800"/>
            <a:ext cx="3017520" cy="41148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3. Sistema de información</a:t>
            </a:r>
            <a:endParaRPr lang="en-US" sz="1800" dirty="0"/>
          </a:p>
        </p:txBody>
      </p:sp>
      <p:sp>
        <p:nvSpPr>
          <p:cNvPr id="15" name="Text 13"/>
          <p:cNvSpPr txBox="1"/>
          <p:nvPr/>
        </p:nvSpPr>
        <p:spPr>
          <a:xfrm>
            <a:off x="8321040" y="4572000"/>
            <a:ext cx="3017520" cy="1005840"/>
          </a:xfrm>
          <a:prstGeom prst="rect">
            <a:avLst/>
          </a:prstGeom>
          <a:noFill/>
          <a:ln/>
        </p:spPr>
        <p:txBody>
          <a:bodyPr wrap="square" lIns="0" tIns="0" rIns="0" bIns="0" rtlCol="0" anchor="t"/>
          <a:lstStyle/>
          <a:p>
            <a:pPr indent="0" marL="0">
              <a:buNone/>
            </a:pPr>
            <a:r>
              <a:rPr lang="en-US" sz="1500" dirty="0">
                <a:solidFill>
                  <a:schemeClr val="tx2"/>
                </a:solidFill>
              </a:rPr>
              <a:t>Registro e interoperabilidad: trabajo futuro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CONTEXTO</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Objetivos</a:t>
            </a:r>
            <a:endParaRPr lang="en-US" sz="3400" dirty="0"/>
          </a:p>
        </p:txBody>
      </p:sp>
      <p:sp>
        <p:nvSpPr>
          <p:cNvPr id="4" name="Text 2"/>
          <p:cNvSpPr txBox="1"/>
          <p:nvPr/>
        </p:nvSpPr>
        <p:spPr>
          <a:xfrm>
            <a:off x="548640" y="1554480"/>
            <a:ext cx="11094415" cy="822960"/>
          </a:xfrm>
          <a:prstGeom prst="rect">
            <a:avLst/>
          </a:prstGeom>
          <a:noFill/>
          <a:ln/>
        </p:spPr>
        <p:txBody>
          <a:bodyPr wrap="square" lIns="0" tIns="0" rIns="0" bIns="0" rtlCol="0" anchor="ctr"/>
          <a:lstStyle/>
          <a:p>
            <a:pPr indent="0" marL="0">
              <a:buNone/>
            </a:pPr>
            <a:r>
              <a:rPr lang="en-US" sz="1700" b="1" dirty="0">
                <a:solidFill>
                  <a:schemeClr val="tx1"/>
                </a:solidFill>
              </a:rPr>
              <a:t>General: </a:t>
            </a:r>
            <a:pPr indent="0" marL="0">
              <a:buNone/>
            </a:pPr>
            <a:r>
              <a:rPr lang="en-US" sz="1700" dirty="0">
                <a:solidFill>
                  <a:schemeClr val="tx2"/>
                </a:solidFill>
              </a:rPr>
              <a:t>adquirir la PPG roja e infrarroja, estimar BPM y una SpO₂ experimental, evaluar la calidad y mostrarlo todo en la TFT, ocultando lo que no sea confiable.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4415" cy="914400"/>
        </p:xfrm>
        <a:graphic>
          <a:graphicData uri="http://schemas.openxmlformats.org/drawingml/2006/table">
            <a:tbl>
              <a:tblPr/>
              <a:tblGrid>
                <a:gridCol w="6766560"/>
                <a:gridCol w="432511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Objetivo específico</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Estado de verificación</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0">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Adquirir RED e IR a ≈ 100 muestras/s sin pérdidas</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Hardware, Etapa 4.1</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Filtrar la PPG entre 0.5 y 5 Hz</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Hardware, Etapa 4.1</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Calcular un BPM estable con estados de validez</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Inferido de la 6.2; H5 pendiente</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Calcular R y una SpO₂ experimental</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Hardware, sin referencia clínica</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Mostrar valores y gráfica sin afectar la lectura</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Hardware 7.3; gráfica pendiente</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Robustez P1–P4 y pruebas automatizadas</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3D4A5C"/>
                          </a:solidFill>
                          <a:latin typeface="Calibri" pitchFamily="34" charset="0"/>
                          <a:ea typeface="Calibri" pitchFamily="34" charset="-122"/>
                          <a:cs typeface="Calibri" pitchFamily="34" charset="-120"/>
                        </a:rPr>
                        <a:t>Simulación; hardware pendiente</a:t>
                      </a:r>
                      <a:endParaRPr lang="en-US" sz="15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SISTEMA</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Arquitectura del sistema</a:t>
            </a:r>
            <a:endParaRPr lang="en-US" sz="3400" dirty="0"/>
          </a:p>
        </p:txBody>
      </p:sp>
      <p:pic>
        <p:nvPicPr>
          <p:cNvPr id="4" name="Diagrama de arquitectura del sistema" descr="Diagrama de arquitectura del sistema">    </p:cNvPr>
          <p:cNvPicPr>
            <a:picLocks noChangeAspect="1"/>
          </p:cNvPicPr>
          <p:nvPr/>
        </p:nvPicPr>
        <p:blipFill>
          <a:blip r:embed="rId1"/>
          <a:stretch>
            <a:fillRect/>
          </a:stretch>
        </p:blipFill>
        <p:spPr>
          <a:xfrm>
            <a:off x="548640" y="1463040"/>
            <a:ext cx="6949440" cy="4681728"/>
          </a:xfrm>
          <a:prstGeom prst="rect">
            <a:avLst/>
          </a:prstGeom>
        </p:spPr>
      </p:pic>
      <p:sp>
        <p:nvSpPr>
          <p:cNvPr id="5" name="Viñetas"/>
          <p:cNvSpPr txBox="1"/>
          <p:nvPr/>
        </p:nvSpPr>
        <p:spPr>
          <a:xfrm>
            <a:off x="7772400" y="1737360"/>
            <a:ext cx="3886200" cy="438912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Sensor → ESP32 por I²C a 400 kHz; ESP32 → TFT por SPI a 16 MHz.</a:t>
            </a:r>
            <a:endParaRPr lang="en-US" sz="1600" dirty="0"/>
          </a:p>
          <a:p>
            <a:pPr marL="342900" indent="-342900">
              <a:spcAft>
                <a:spcPts val="1000"/>
              </a:spcAft>
              <a:buSzPct val="100000"/>
              <a:buChar char="•"/>
            </a:pPr>
            <a:r>
              <a:rPr lang="en-US" sz="1600" dirty="0">
                <a:solidFill>
                  <a:schemeClr val="tx2"/>
                </a:solidFill>
              </a:rPr>
              <a:t>Seis bloques de firmware en un solo lazo, sin bloqueos.</a:t>
            </a:r>
            <a:endParaRPr lang="en-US" sz="1600" dirty="0"/>
          </a:p>
          <a:p>
            <a:pPr marL="342900" indent="-342900">
              <a:spcAft>
                <a:spcPts val="1000"/>
              </a:spcAft>
              <a:buSzPct val="100000"/>
              <a:buChar char="•"/>
            </a:pPr>
            <a:r>
              <a:rPr lang="en-US" sz="1600" dirty="0">
                <a:solidFill>
                  <a:schemeClr val="tx2"/>
                </a:solidFill>
              </a:rPr>
              <a:t>La computadora solo envía comandos y lee diagnósticos (115200 baudios, 22 comandos).</a:t>
            </a:r>
            <a:endParaRPr lang="en-US" sz="1600" dirty="0"/>
          </a:p>
          <a:p>
            <a:pPr marL="342900" indent="-342900">
              <a:spcAft>
                <a:spcPts val="1000"/>
              </a:spcAft>
              <a:buSzPct val="100000"/>
              <a:buChar char="•"/>
            </a:pPr>
            <a:r>
              <a:rPr lang="en-US" sz="1600" dirty="0">
                <a:solidFill>
                  <a:schemeClr val="tx2"/>
                </a:solidFill>
              </a:rPr>
              <a:t>Alimentación de 3.3 V de la tarjeta; condensador de 470 µF / 25 V.</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SISTEMA</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Hardware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828800"/>
                <a:gridCol w="2651760"/>
                <a:gridCol w="2606040"/>
                <a:gridCol w="1737360"/>
                <a:gridCol w="22677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Componente</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Modelo</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Función</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Interfaz</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Alimentación</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Microcontrolador</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ESP32-WROOM-32</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Adquisición, procesamiento, interfaz</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USB, I²C, SPI</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USB de la tarjeta (por confirmar)</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Sensor óptico</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MAX30102</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Señales PPG roja e infrarroja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I²C 0x57, 400 kHz</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3.3 V (VIN)</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Pantalla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TFT 1.8", ST7735S, INITR_BLACKTAB</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Valores, calidad y gráfica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SPI 16 MHz</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3.3 V (VCC y LED)</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Condensador</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Electrolítico 470 µF / 25 V</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Reserva de carga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Punto de conexión por confirmar</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5" name="Viñetas"/>
          <p:cNvSpPr txBox="1"/>
          <p:nvPr/>
        </p:nvSpPr>
        <p:spPr>
          <a:xfrm>
            <a:off x="548640" y="4480560"/>
            <a:ext cx="11094415" cy="1645920"/>
          </a:xfrm>
          <a:prstGeom prst="rect">
            <a:avLst/>
          </a:prstGeom>
          <a:noFill/>
          <a:ln/>
        </p:spPr>
        <p:txBody>
          <a:bodyPr wrap="square" rtlCol="0" anchor="t"/>
          <a:lstStyle/>
          <a:p>
            <a:pPr marL="342900" indent="-342900">
              <a:spcAft>
                <a:spcPts val="1000"/>
              </a:spcAft>
              <a:buSzPct val="100000"/>
              <a:buChar char="•"/>
            </a:pPr>
            <a:r>
              <a:rPr lang="en-US" sz="1700" dirty="0">
                <a:solidFill>
                  <a:schemeClr val="tx2"/>
                </a:solidFill>
              </a:rPr>
              <a:t>Sin pin INT ni microSD: el FIFO se lee por sondeo cada 10 ms.</a:t>
            </a:r>
            <a:endParaRPr lang="en-US" sz="1700" dirty="0"/>
          </a:p>
          <a:p>
            <a:pPr marL="342900" indent="-342900">
              <a:spcAft>
                <a:spcPts val="1000"/>
              </a:spcAft>
              <a:buSzPct val="100000"/>
              <a:buChar char="•"/>
            </a:pPr>
            <a:r>
              <a:rPr lang="en-US" sz="1700" dirty="0">
                <a:solidFill>
                  <a:schemeClr val="tx2"/>
                </a:solidFill>
              </a:rPr>
              <a:t>Todo trabaja a 3.3 V: no hacen falta convertidores de nivel.</a:t>
            </a:r>
            <a:endParaRPr lang="en-US" sz="1700" dirty="0"/>
          </a:p>
          <a:p>
            <a:pPr marL="342900" indent="-342900">
              <a:spcAft>
                <a:spcPts val="1000"/>
              </a:spcAft>
              <a:buSzPct val="100000"/>
              <a:buChar char="•"/>
            </a:pPr>
            <a:r>
              <a:rPr lang="en-US" sz="1700" dirty="0">
                <a:solidFill>
                  <a:schemeClr val="tx2"/>
                </a:solidFill>
              </a:rPr>
              <a:t>WiFi, Bluetooth, alarmas y registro no forman parte del prototipo.</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SISTEMA</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Diagrama de conexiones</a:t>
            </a:r>
            <a:endParaRPr lang="en-US" sz="3400" dirty="0"/>
          </a:p>
        </p:txBody>
      </p:sp>
      <p:pic>
        <p:nvPicPr>
          <p:cNvPr id="4" name="Diagrama de conexiones del prototipo" descr="Diagrama de conexiones del prototipo">    </p:cNvPr>
          <p:cNvPicPr>
            <a:picLocks noChangeAspect="1"/>
          </p:cNvPicPr>
          <p:nvPr/>
        </p:nvPicPr>
        <p:blipFill>
          <a:blip r:embed="rId1"/>
          <a:stretch>
            <a:fillRect/>
          </a:stretch>
        </p:blipFill>
        <p:spPr>
          <a:xfrm>
            <a:off x="548640" y="1463040"/>
            <a:ext cx="6400800" cy="4709160"/>
          </a:xfrm>
          <a:prstGeom prst="rect">
            <a:avLst/>
          </a:prstGeom>
        </p:spPr>
      </p:pic>
      <p:sp>
        <p:nvSpPr>
          <p:cNvPr id="5" name="Tarjeta Atención con “SDA”"/>
          <p:cNvSpPr/>
          <p:nvPr/>
        </p:nvSpPr>
        <p:spPr>
          <a:xfrm>
            <a:off x="7315200" y="1737360"/>
            <a:ext cx="4297680" cy="2103120"/>
          </a:xfrm>
          <a:prstGeom prst="roundRect">
            <a:avLst>
              <a:gd name="adj" fmla="val 5217"/>
            </a:avLst>
          </a:prstGeom>
          <a:solidFill>
            <a:srgbClr val="F8E7DA"/>
          </a:solidFill>
          <a:ln w="12700">
            <a:solidFill>
              <a:srgbClr val="F8E7DA"/>
            </a:solidFill>
            <a:prstDash val="solid"/>
          </a:ln>
        </p:spPr>
      </p:sp>
      <p:sp>
        <p:nvSpPr>
          <p:cNvPr id="6" name="Text 3"/>
          <p:cNvSpPr txBox="1"/>
          <p:nvPr/>
        </p:nvSpPr>
        <p:spPr>
          <a:xfrm>
            <a:off x="7498080" y="1874520"/>
            <a:ext cx="393192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libri" pitchFamily="34" charset="0"/>
                <a:ea typeface="Calibri" pitchFamily="34" charset="-122"/>
                <a:cs typeface="Calibri" pitchFamily="34" charset="-120"/>
              </a:rPr>
              <a:t>Atención con “SDA”</a:t>
            </a:r>
            <a:endParaRPr lang="en-US" sz="1800" dirty="0"/>
          </a:p>
        </p:txBody>
      </p:sp>
      <p:sp>
        <p:nvSpPr>
          <p:cNvPr id="7" name="Text 4"/>
          <p:cNvSpPr txBox="1"/>
          <p:nvPr/>
        </p:nvSpPr>
        <p:spPr>
          <a:xfrm>
            <a:off x="7498080" y="2331720"/>
            <a:ext cx="3931920" cy="1371600"/>
          </a:xfrm>
          <a:prstGeom prst="rect">
            <a:avLst/>
          </a:prstGeom>
          <a:noFill/>
          <a:ln/>
        </p:spPr>
        <p:txBody>
          <a:bodyPr wrap="square" lIns="0" tIns="0" rIns="0" bIns="0" rtlCol="0" anchor="t"/>
          <a:lstStyle/>
          <a:p>
            <a:pPr indent="0" marL="0">
              <a:buNone/>
            </a:pPr>
            <a:r>
              <a:rPr lang="en-US" sz="1600" dirty="0">
                <a:solidFill>
                  <a:schemeClr val="tx2"/>
                </a:solidFill>
              </a:rPr>
              <a:t>En el MAX30102, SDA son datos I²C (GPIO21). En la TFT, el pin rotulado SDA es MOSI del bus SPI (GPIO23).</a:t>
            </a:r>
            <a:endParaRPr lang="en-US" sz="1600" dirty="0"/>
          </a:p>
        </p:txBody>
      </p:sp>
      <p:sp>
        <p:nvSpPr>
          <p:cNvPr id="8" name="Viñetas"/>
          <p:cNvSpPr txBox="1"/>
          <p:nvPr/>
        </p:nvSpPr>
        <p:spPr>
          <a:xfrm>
            <a:off x="7315200" y="4114800"/>
            <a:ext cx="4297680" cy="182880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INT y RD del sensor van sin conectar.</a:t>
            </a:r>
            <a:endParaRPr lang="en-US" sz="1600" dirty="0"/>
          </a:p>
          <a:p>
            <a:pPr marL="342900" indent="-342900">
              <a:spcAft>
                <a:spcPts val="1000"/>
              </a:spcAft>
              <a:buSzPct val="100000"/>
              <a:buChar char="•"/>
            </a:pPr>
            <a:r>
              <a:rPr lang="en-US" sz="1600" dirty="0">
                <a:solidFill>
                  <a:schemeClr val="tx2"/>
                </a:solidFill>
              </a:rPr>
              <a:t>Las mismas conexiones están en la cabecera del firmware (L35–41).</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ALGORITMOS</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MAX30102 y señal PPG</a:t>
            </a:r>
            <a:endParaRPr lang="en-US" sz="3400" dirty="0"/>
          </a:p>
        </p:txBody>
      </p:sp>
      <p:sp>
        <p:nvSpPr>
          <p:cNvPr id="4" name="Viñetas"/>
          <p:cNvSpPr txBox="1"/>
          <p:nvPr/>
        </p:nvSpPr>
        <p:spPr>
          <a:xfrm>
            <a:off x="548640" y="1600200"/>
            <a:ext cx="6675120" cy="4389120"/>
          </a:xfrm>
          <a:prstGeom prst="rect">
            <a:avLst/>
          </a:prstGeom>
          <a:noFill/>
          <a:ln/>
        </p:spPr>
        <p:txBody>
          <a:bodyPr wrap="square" rtlCol="0" anchor="t"/>
          <a:lstStyle/>
          <a:p>
            <a:pPr marL="342900" indent="-342900">
              <a:spcAft>
                <a:spcPts val="1000"/>
              </a:spcAft>
              <a:buSzPct val="100000"/>
              <a:buChar char="•"/>
            </a:pPr>
            <a:r>
              <a:rPr lang="en-US" sz="1800" dirty="0">
                <a:solidFill>
                  <a:schemeClr val="tx2"/>
                </a:solidFill>
              </a:rPr>
              <a:t>Reflexión: LED y fotodiodo del mismo lado; el dedo se apoya encima.</a:t>
            </a:r>
            <a:endParaRPr lang="en-US" sz="1800" dirty="0"/>
          </a:p>
          <a:p>
            <a:pPr marL="342900" indent="-342900">
              <a:spcAft>
                <a:spcPts val="1000"/>
              </a:spcAft>
              <a:buSzPct val="100000"/>
              <a:buChar char="•"/>
            </a:pPr>
            <a:r>
              <a:rPr lang="en-US" sz="1800" dirty="0">
                <a:solidFill>
                  <a:schemeClr val="tx2"/>
                </a:solidFill>
              </a:rPr>
              <a:t>DC: tejido y sangre no pulsátil. AC: volumen arterial de cada latido.</a:t>
            </a:r>
            <a:endParaRPr lang="en-US" sz="1800" dirty="0"/>
          </a:p>
          <a:p>
            <a:pPr marL="342900" indent="-342900">
              <a:spcAft>
                <a:spcPts val="1000"/>
              </a:spcAft>
              <a:buSzPct val="100000"/>
              <a:buChar char="•"/>
            </a:pPr>
            <a:r>
              <a:rPr lang="en-US" sz="1800" dirty="0">
                <a:solidFill>
                  <a:schemeClr val="tx2"/>
                </a:solidFill>
              </a:rPr>
              <a:t>Rojo ≈ 660 nm e infrarrojo ≈ 880 nm: la hemoglobina absorbe distinto.</a:t>
            </a:r>
            <a:endParaRPr lang="en-US" sz="1800" dirty="0"/>
          </a:p>
          <a:p>
            <a:pPr marL="342900" indent="-342900">
              <a:spcAft>
                <a:spcPts val="1000"/>
              </a:spcAft>
              <a:buSzPct val="100000"/>
              <a:buChar char="•"/>
            </a:pPr>
            <a:r>
              <a:rPr lang="en-US" sz="1800" dirty="0">
                <a:solidFill>
                  <a:schemeClr val="tx2"/>
                </a:solidFill>
              </a:rPr>
              <a:t>400 muestras/s internas y promedio de 4: 100 muestras/s nominales.</a:t>
            </a:r>
            <a:endParaRPr lang="en-US" sz="1800" dirty="0"/>
          </a:p>
        </p:txBody>
      </p:sp>
      <p:sp>
        <p:nvSpPr>
          <p:cNvPr id="5" name="Text 3"/>
          <p:cNvSpPr txBox="1"/>
          <p:nvPr/>
        </p:nvSpPr>
        <p:spPr>
          <a:xfrm>
            <a:off x="7680960" y="1645920"/>
            <a:ext cx="39319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99.1 /s</a:t>
            </a:r>
            <a:endParaRPr lang="en-US" sz="4400" dirty="0"/>
          </a:p>
        </p:txBody>
      </p:sp>
      <p:sp>
        <p:nvSpPr>
          <p:cNvPr id="6" name="Text 4"/>
          <p:cNvSpPr txBox="1"/>
          <p:nvPr/>
        </p:nvSpPr>
        <p:spPr>
          <a:xfrm>
            <a:off x="7680960" y="2468880"/>
            <a:ext cx="3931920" cy="548640"/>
          </a:xfrm>
          <a:prstGeom prst="rect">
            <a:avLst/>
          </a:prstGeom>
          <a:noFill/>
          <a:ln/>
        </p:spPr>
        <p:txBody>
          <a:bodyPr wrap="square" lIns="0" tIns="0" rIns="0" bIns="0" rtlCol="0" anchor="t"/>
          <a:lstStyle/>
          <a:p>
            <a:pPr indent="0" marL="0">
              <a:buNone/>
            </a:pPr>
            <a:r>
              <a:rPr lang="en-US" sz="1400" dirty="0">
                <a:solidFill>
                  <a:schemeClr val="tx2"/>
                </a:solidFill>
              </a:rPr>
              <a:t>muestras medidas, 0 pérdidas (Etapa 4.1, hardware)</a:t>
            </a:r>
            <a:endParaRPr lang="en-US" sz="1400" dirty="0"/>
          </a:p>
        </p:txBody>
      </p:sp>
      <p:sp>
        <p:nvSpPr>
          <p:cNvPr id="7" name="Text 5"/>
          <p:cNvSpPr txBox="1"/>
          <p:nvPr/>
        </p:nvSpPr>
        <p:spPr>
          <a:xfrm>
            <a:off x="7680960" y="3154680"/>
            <a:ext cx="39319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830 / 293</a:t>
            </a:r>
            <a:endParaRPr lang="en-US" sz="4400" dirty="0"/>
          </a:p>
        </p:txBody>
      </p:sp>
      <p:sp>
        <p:nvSpPr>
          <p:cNvPr id="8" name="Text 6"/>
          <p:cNvSpPr txBox="1"/>
          <p:nvPr/>
        </p:nvSpPr>
        <p:spPr>
          <a:xfrm>
            <a:off x="7680960" y="3977640"/>
            <a:ext cx="3931920" cy="548640"/>
          </a:xfrm>
          <a:prstGeom prst="rect">
            <a:avLst/>
          </a:prstGeom>
          <a:noFill/>
          <a:ln/>
        </p:spPr>
        <p:txBody>
          <a:bodyPr wrap="square" lIns="0" tIns="0" rIns="0" bIns="0" rtlCol="0" anchor="t"/>
          <a:lstStyle/>
          <a:p>
            <a:pPr indent="0" marL="0">
              <a:buNone/>
            </a:pPr>
            <a:r>
              <a:rPr lang="en-US" sz="1400" dirty="0">
                <a:solidFill>
                  <a:schemeClr val="tx2"/>
                </a:solidFill>
              </a:rPr>
              <a:t>cuentas de AC pico a pico, IR y rojo</a:t>
            </a:r>
            <a:endParaRPr lang="en-US" sz="1400" dirty="0"/>
          </a:p>
        </p:txBody>
      </p:sp>
      <p:sp>
        <p:nvSpPr>
          <p:cNvPr id="9" name="Text 7"/>
          <p:cNvSpPr txBox="1"/>
          <p:nvPr/>
        </p:nvSpPr>
        <p:spPr>
          <a:xfrm>
            <a:off x="7680960" y="4663440"/>
            <a:ext cx="39319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55.4×</a:t>
            </a:r>
            <a:endParaRPr lang="en-US" sz="4400" dirty="0"/>
          </a:p>
        </p:txBody>
      </p:sp>
      <p:sp>
        <p:nvSpPr>
          <p:cNvPr id="10" name="Text 8"/>
          <p:cNvSpPr txBox="1"/>
          <p:nvPr/>
        </p:nvSpPr>
        <p:spPr>
          <a:xfrm>
            <a:off x="7680960" y="5486400"/>
            <a:ext cx="3931920" cy="548640"/>
          </a:xfrm>
          <a:prstGeom prst="rect">
            <a:avLst/>
          </a:prstGeom>
          <a:noFill/>
          <a:ln/>
        </p:spPr>
        <p:txBody>
          <a:bodyPr wrap="square" lIns="0" tIns="0" rIns="0" bIns="0" rtlCol="0" anchor="t"/>
          <a:lstStyle/>
          <a:p>
            <a:pPr indent="0" marL="0">
              <a:buNone/>
            </a:pPr>
            <a:r>
              <a:rPr lang="en-US" sz="1400" dirty="0">
                <a:solidFill>
                  <a:schemeClr val="tx2"/>
                </a:solidFill>
              </a:rPr>
              <a:t>AC con dedo frente a sin dedo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ALGORITMOS</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Procesamiento de señal</a:t>
            </a:r>
            <a:endParaRPr lang="en-US" sz="3400" dirty="0"/>
          </a:p>
        </p:txBody>
      </p:sp>
      <p:pic>
        <p:nvPicPr>
          <p:cNvPr id="4" name="Cadena de procesamiento de la señal" descr="Cadena de procesamiento de la señal">    </p:cNvPr>
          <p:cNvPicPr>
            <a:picLocks noChangeAspect="1"/>
          </p:cNvPicPr>
          <p:nvPr/>
        </p:nvPicPr>
        <p:blipFill>
          <a:blip r:embed="rId1"/>
          <a:stretch>
            <a:fillRect/>
          </a:stretch>
        </p:blipFill>
        <p:spPr>
          <a:xfrm>
            <a:off x="548640" y="1508760"/>
            <a:ext cx="6949440" cy="3584448"/>
          </a:xfrm>
          <a:prstGeom prst="rect">
            <a:avLst/>
          </a:prstGeom>
        </p:spPr>
      </p:pic>
      <p:sp>
        <p:nvSpPr>
          <p:cNvPr id="5" name="Viñetas"/>
          <p:cNvSpPr txBox="1"/>
          <p:nvPr/>
        </p:nvSpPr>
        <p:spPr>
          <a:xfrm>
            <a:off x="7772400" y="1600200"/>
            <a:ext cx="3886200" cy="457200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Un escalón mayor al 10 % del DC o a 5000 cuentas reinicia los filtros.</a:t>
            </a:r>
            <a:endParaRPr lang="en-US" sz="1600" dirty="0"/>
          </a:p>
          <a:p>
            <a:pPr marL="342900" indent="-342900">
              <a:spcAft>
                <a:spcPts val="1000"/>
              </a:spcAft>
              <a:buSzPct val="100000"/>
              <a:buChar char="•"/>
            </a:pPr>
            <a:r>
              <a:rPr lang="en-US" sz="1600" dirty="0">
                <a:solidFill>
                  <a:schemeClr val="tx2"/>
                </a:solidFill>
              </a:rPr>
              <a:t>Luego hay 2 s de estabilización: 1 s de DC rápido y 1 s de calentamiento.</a:t>
            </a:r>
            <a:endParaRPr lang="en-US" sz="1600" dirty="0"/>
          </a:p>
          <a:p>
            <a:pPr marL="342900" indent="-342900">
              <a:spcAft>
                <a:spcPts val="1000"/>
              </a:spcAft>
              <a:buSzPct val="100000"/>
              <a:buChar char="•"/>
            </a:pPr>
            <a:r>
              <a:rPr lang="en-US" sz="1600" dirty="0">
                <a:solidFill>
                  <a:schemeClr val="tx2"/>
                </a:solidFill>
              </a:rPr>
              <a:t>RED e IR se procesan y se reinician juntos, para que sigan alineados.</a:t>
            </a:r>
            <a:endParaRPr lang="en-US" sz="1600" dirty="0"/>
          </a:p>
          <a:p>
            <a:pPr marL="342900" indent="-342900">
              <a:spcAft>
                <a:spcPts val="1000"/>
              </a:spcAft>
              <a:buSzPct val="100000"/>
              <a:buChar char="•"/>
            </a:pPr>
            <a:r>
              <a:rPr lang="en-US" sz="1600" dirty="0">
                <a:solidFill>
                  <a:schemeClr val="tx2"/>
                </a:solidFill>
              </a:rPr>
              <a:t>En PC, los filtros coinciden con scipy: coeficientes (error ≤ 1e-5) y salida (error relativo ≤ 1e-4).</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ALGORITMOS</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Cálculo de BPM</a:t>
            </a:r>
            <a:endParaRPr lang="en-US" sz="3400" dirty="0"/>
          </a:p>
        </p:txBody>
      </p:sp>
      <p:sp>
        <p:nvSpPr>
          <p:cNvPr id="4" name="Viñetas"/>
          <p:cNvSpPr txBox="1"/>
          <p:nvPr/>
        </p:nvSpPr>
        <p:spPr>
          <a:xfrm>
            <a:off x="548640" y="1600200"/>
            <a:ext cx="6675120" cy="4480560"/>
          </a:xfrm>
          <a:prstGeom prst="rect">
            <a:avLst/>
          </a:prstGeom>
          <a:noFill/>
          <a:ln/>
        </p:spPr>
        <p:txBody>
          <a:bodyPr wrap="square" rtlCol="0" anchor="t"/>
          <a:lstStyle/>
          <a:p>
            <a:pPr marL="342900" indent="-342900">
              <a:spcAft>
                <a:spcPts val="1000"/>
              </a:spcAft>
              <a:buSzPct val="100000"/>
              <a:buChar char="•"/>
            </a:pPr>
            <a:r>
              <a:rPr lang="en-US" sz="1800" dirty="0">
                <a:solidFill>
                  <a:schemeClr val="tx2"/>
                </a:solidFill>
              </a:rPr>
              <a:t>Umbral: 50 % de una envolvente que cae con τ = 2 s.</a:t>
            </a:r>
            <a:endParaRPr lang="en-US" sz="1800" dirty="0"/>
          </a:p>
          <a:p>
            <a:pPr marL="342900" indent="-342900">
              <a:spcAft>
                <a:spcPts val="1000"/>
              </a:spcAft>
              <a:buSzPct val="100000"/>
              <a:buChar char="•"/>
            </a:pPr>
            <a:r>
              <a:rPr lang="en-US" sz="1800" dirty="0">
                <a:solidFill>
                  <a:schemeClr val="tx2"/>
                </a:solidFill>
              </a:rPr>
              <a:t>Prominencia: el pico sube ≥ 50 % de la envolvente sobre su valle.</a:t>
            </a:r>
            <a:endParaRPr lang="en-US" sz="1800" dirty="0"/>
          </a:p>
          <a:p>
            <a:pPr marL="342900" indent="-342900">
              <a:spcAft>
                <a:spcPts val="1000"/>
              </a:spcAft>
              <a:buSzPct val="100000"/>
              <a:buChar char="•"/>
            </a:pPr>
            <a:r>
              <a:rPr lang="en-US" sz="1800" dirty="0">
                <a:solidFill>
                  <a:schemeClr val="tx2"/>
                </a:solidFill>
              </a:rPr>
              <a:t>Refractario: el mayor entre 300 ms y 60 % del intervalo medio.</a:t>
            </a:r>
            <a:endParaRPr lang="en-US" sz="1800" dirty="0"/>
          </a:p>
          <a:p>
            <a:pPr marL="342900" indent="-342900">
              <a:spcAft>
                <a:spcPts val="1000"/>
              </a:spcAft>
              <a:buSzPct val="100000"/>
              <a:buChar char="•"/>
            </a:pPr>
            <a:r>
              <a:rPr lang="en-US" sz="1800" dirty="0">
                <a:solidFill>
                  <a:schemeClr val="tx2"/>
                </a:solidFill>
              </a:rPr>
              <a:t>Intervalo aceptado: 40–180 BPM y ±30 % de la mediana.</a:t>
            </a:r>
            <a:endParaRPr lang="en-US" sz="1800" dirty="0"/>
          </a:p>
          <a:p>
            <a:pPr marL="342900" indent="-342900">
              <a:spcAft>
                <a:spcPts val="1000"/>
              </a:spcAft>
              <a:buSzPct val="100000"/>
              <a:buChar char="•"/>
            </a:pPr>
            <a:r>
              <a:rPr lang="en-US" sz="1800" dirty="0">
                <a:solidFill>
                  <a:schemeClr val="tx2"/>
                </a:solidFill>
              </a:rPr>
              <a:t>BPM = 60000 / media de hasta 8 intervalos aceptados.</a:t>
            </a:r>
            <a:endParaRPr lang="en-US" sz="1800" dirty="0"/>
          </a:p>
        </p:txBody>
      </p:sp>
      <p:sp>
        <p:nvSpPr>
          <p:cNvPr id="5" name="Tarjeta SIN SEÑAL"/>
          <p:cNvSpPr/>
          <p:nvPr/>
        </p:nvSpPr>
        <p:spPr>
          <a:xfrm>
            <a:off x="7680960" y="1645920"/>
            <a:ext cx="3931920" cy="1280160"/>
          </a:xfrm>
          <a:prstGeom prst="roundRect">
            <a:avLst>
              <a:gd name="adj" fmla="val 8571"/>
            </a:avLst>
          </a:prstGeom>
          <a:solidFill>
            <a:srgbClr val="F1F4F7"/>
          </a:solidFill>
          <a:ln w="12700">
            <a:solidFill>
              <a:srgbClr val="F1F4F7"/>
            </a:solidFill>
            <a:prstDash val="solid"/>
          </a:ln>
        </p:spPr>
      </p:sp>
      <p:sp>
        <p:nvSpPr>
          <p:cNvPr id="6" name="Text 4"/>
          <p:cNvSpPr txBox="1"/>
          <p:nvPr/>
        </p:nvSpPr>
        <p:spPr>
          <a:xfrm>
            <a:off x="7863840" y="1783080"/>
            <a:ext cx="3566160" cy="41148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SIN SEÑAL</a:t>
            </a:r>
            <a:endParaRPr lang="en-US" sz="1800" dirty="0"/>
          </a:p>
        </p:txBody>
      </p:sp>
      <p:sp>
        <p:nvSpPr>
          <p:cNvPr id="7" name="Text 5"/>
          <p:cNvSpPr txBox="1"/>
          <p:nvPr/>
        </p:nvSpPr>
        <p:spPr>
          <a:xfrm>
            <a:off x="7863840" y="2240280"/>
            <a:ext cx="3566160" cy="548640"/>
          </a:xfrm>
          <a:prstGeom prst="rect">
            <a:avLst/>
          </a:prstGeom>
          <a:noFill/>
          <a:ln/>
        </p:spPr>
        <p:txBody>
          <a:bodyPr wrap="square" lIns="0" tIns="0" rIns="0" bIns="0" rtlCol="0" anchor="t"/>
          <a:lstStyle/>
          <a:p>
            <a:pPr indent="0" marL="0">
              <a:buNone/>
            </a:pPr>
            <a:r>
              <a:rPr lang="en-US" sz="1500" dirty="0">
                <a:solidFill>
                  <a:schemeClr val="tx2"/>
                </a:solidFill>
              </a:rPr>
              <a:t>sin dedo, saturación o señal débil</a:t>
            </a:r>
            <a:endParaRPr lang="en-US" sz="1500" dirty="0"/>
          </a:p>
        </p:txBody>
      </p:sp>
      <p:sp>
        <p:nvSpPr>
          <p:cNvPr id="8" name="Tarjeta ESTABILIZANDO"/>
          <p:cNvSpPr/>
          <p:nvPr/>
        </p:nvSpPr>
        <p:spPr>
          <a:xfrm>
            <a:off x="7680960" y="3154680"/>
            <a:ext cx="3931920" cy="1280160"/>
          </a:xfrm>
          <a:prstGeom prst="roundRect">
            <a:avLst>
              <a:gd name="adj" fmla="val 8571"/>
            </a:avLst>
          </a:prstGeom>
          <a:solidFill>
            <a:srgbClr val="FBF0DC"/>
          </a:solidFill>
          <a:ln w="12700">
            <a:solidFill>
              <a:srgbClr val="FBF0DC"/>
            </a:solidFill>
            <a:prstDash val="solid"/>
          </a:ln>
        </p:spPr>
      </p:sp>
      <p:sp>
        <p:nvSpPr>
          <p:cNvPr id="9" name="Text 7"/>
          <p:cNvSpPr txBox="1"/>
          <p:nvPr/>
        </p:nvSpPr>
        <p:spPr>
          <a:xfrm>
            <a:off x="7863840" y="3291840"/>
            <a:ext cx="3566160" cy="411480"/>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ESTABILIZANDO</a:t>
            </a:r>
            <a:endParaRPr lang="en-US" sz="1800" dirty="0"/>
          </a:p>
        </p:txBody>
      </p:sp>
      <p:sp>
        <p:nvSpPr>
          <p:cNvPr id="10" name="Text 8"/>
          <p:cNvSpPr txBox="1"/>
          <p:nvPr/>
        </p:nvSpPr>
        <p:spPr>
          <a:xfrm>
            <a:off x="7863840" y="3749040"/>
            <a:ext cx="3566160" cy="548640"/>
          </a:xfrm>
          <a:prstGeom prst="rect">
            <a:avLst/>
          </a:prstGeom>
          <a:noFill/>
          <a:ln/>
        </p:spPr>
        <p:txBody>
          <a:bodyPr wrap="square" lIns="0" tIns="0" rIns="0" bIns="0" rtlCol="0" anchor="t"/>
          <a:lstStyle/>
          <a:p>
            <a:pPr indent="0" marL="0">
              <a:buNone/>
            </a:pPr>
            <a:r>
              <a:rPr lang="en-US" sz="1500" dirty="0">
                <a:solidFill>
                  <a:schemeClr val="tx2"/>
                </a:solidFill>
              </a:rPr>
              <a:t>acumulando pulsos consistentes</a:t>
            </a:r>
            <a:endParaRPr lang="en-US" sz="1500" dirty="0"/>
          </a:p>
        </p:txBody>
      </p:sp>
      <p:sp>
        <p:nvSpPr>
          <p:cNvPr id="11" name="Tarjeta BPM VÁLIDO"/>
          <p:cNvSpPr/>
          <p:nvPr/>
        </p:nvSpPr>
        <p:spPr>
          <a:xfrm>
            <a:off x="7680960" y="4663440"/>
            <a:ext cx="3931920" cy="1280160"/>
          </a:xfrm>
          <a:prstGeom prst="roundRect">
            <a:avLst>
              <a:gd name="adj" fmla="val 8571"/>
            </a:avLst>
          </a:prstGeom>
          <a:solidFill>
            <a:srgbClr val="E1F0E7"/>
          </a:solidFill>
          <a:ln w="12700">
            <a:solidFill>
              <a:srgbClr val="E1F0E7"/>
            </a:solidFill>
            <a:prstDash val="solid"/>
          </a:ln>
        </p:spPr>
      </p:sp>
      <p:sp>
        <p:nvSpPr>
          <p:cNvPr id="12" name="Text 10"/>
          <p:cNvSpPr txBox="1"/>
          <p:nvPr/>
        </p:nvSpPr>
        <p:spPr>
          <a:xfrm>
            <a:off x="7863840" y="4800600"/>
            <a:ext cx="3566160" cy="411480"/>
          </a:xfrm>
          <a:prstGeom prst="rect">
            <a:avLst/>
          </a:prstGeom>
          <a:noFill/>
          <a:ln/>
        </p:spPr>
        <p:txBody>
          <a:bodyPr wrap="square" lIns="0" tIns="0" rIns="0" bIns="0"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BPM VÁLIDO</a:t>
            </a:r>
            <a:endParaRPr lang="en-US" sz="1800" dirty="0"/>
          </a:p>
        </p:txBody>
      </p:sp>
      <p:sp>
        <p:nvSpPr>
          <p:cNvPr id="13" name="Text 11"/>
          <p:cNvSpPr txBox="1"/>
          <p:nvPr/>
        </p:nvSpPr>
        <p:spPr>
          <a:xfrm>
            <a:off x="7863840" y="5257800"/>
            <a:ext cx="3566160" cy="548640"/>
          </a:xfrm>
          <a:prstGeom prst="rect">
            <a:avLst/>
          </a:prstGeom>
          <a:noFill/>
          <a:ln/>
        </p:spPr>
        <p:txBody>
          <a:bodyPr wrap="square" lIns="0" tIns="0" rIns="0" bIns="0" rtlCol="0" anchor="t"/>
          <a:lstStyle/>
          <a:p>
            <a:pPr indent="0" marL="0">
              <a:buNone/>
            </a:pPr>
            <a:r>
              <a:rPr lang="en-US" sz="1500" dirty="0">
                <a:solidFill>
                  <a:schemeClr val="tx2"/>
                </a:solidFill>
              </a:rPr>
              <a:t>5 aceptados seguidos y CV ≤ 20 %</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ALGORITMOS</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Estimación de SpO₂</a:t>
            </a:r>
            <a:endParaRPr lang="en-US" sz="3400" dirty="0"/>
          </a:p>
        </p:txBody>
      </p:sp>
      <p:sp>
        <p:nvSpPr>
          <p:cNvPr id="4" name="Tarjeta Razón por latido (regresión RED–IR)"/>
          <p:cNvSpPr/>
          <p:nvPr/>
        </p:nvSpPr>
        <p:spPr>
          <a:xfrm>
            <a:off x="548640" y="1554480"/>
            <a:ext cx="5440680" cy="1508760"/>
          </a:xfrm>
          <a:prstGeom prst="roundRect">
            <a:avLst>
              <a:gd name="adj" fmla="val 7273"/>
            </a:avLst>
          </a:prstGeom>
          <a:solidFill>
            <a:srgbClr val="F1F4F7"/>
          </a:solidFill>
          <a:ln w="12700">
            <a:solidFill>
              <a:srgbClr val="F1F4F7"/>
            </a:solidFill>
            <a:prstDash val="solid"/>
          </a:ln>
        </p:spPr>
      </p:sp>
      <p:sp>
        <p:nvSpPr>
          <p:cNvPr id="5" name="Text 3"/>
          <p:cNvSpPr txBox="1"/>
          <p:nvPr/>
        </p:nvSpPr>
        <p:spPr>
          <a:xfrm>
            <a:off x="731520" y="1691640"/>
            <a:ext cx="50749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Razón por latido (regresión RED–IR)</a:t>
            </a:r>
            <a:endParaRPr lang="en-US" sz="1800" dirty="0"/>
          </a:p>
        </p:txBody>
      </p:sp>
      <p:sp>
        <p:nvSpPr>
          <p:cNvPr id="6" name="Text 4"/>
          <p:cNvSpPr txBox="1"/>
          <p:nvPr/>
        </p:nvSpPr>
        <p:spPr>
          <a:xfrm>
            <a:off x="731520" y="2148840"/>
            <a:ext cx="5074920" cy="777240"/>
          </a:xfrm>
          <a:prstGeom prst="rect">
            <a:avLst/>
          </a:prstGeom>
          <a:noFill/>
          <a:ln/>
        </p:spPr>
        <p:txBody>
          <a:bodyPr wrap="square" lIns="0" tIns="0" rIns="0" bIns="0" rtlCol="0" anchor="t"/>
          <a:lstStyle/>
          <a:p>
            <a:pPr indent="0" marL="0">
              <a:buNone/>
            </a:pPr>
            <a:r>
              <a:rPr lang="en-US" sz="1500" dirty="0">
                <a:solidFill>
                  <a:schemeClr val="tx2"/>
                </a:solidFill>
              </a:rPr>
              <a:t>R = [cov(AC rojo, AC IR) / var(AC IR)] · DC IR / DC rojo</a:t>
            </a:r>
            <a:endParaRPr lang="en-US" sz="1500" dirty="0"/>
          </a:p>
          <a:p>
            <a:pPr indent="0" marL="0">
              <a:buNone/>
            </a:pPr>
            <a:r>
              <a:rPr lang="en-US" sz="1500" dirty="0">
                <a:solidFill>
                  <a:schemeClr val="tx2"/>
                </a:solidFill>
              </a:rPr>
              <a:t>Equivale a la razón de razones (AC/DC rojo) ÷ (AC/DC IR).</a:t>
            </a:r>
            <a:endParaRPr lang="en-US" sz="1500" dirty="0"/>
          </a:p>
        </p:txBody>
      </p:sp>
      <p:sp>
        <p:nvSpPr>
          <p:cNvPr id="7" name="Tarjeta Curva genérica de Maxim"/>
          <p:cNvSpPr/>
          <p:nvPr/>
        </p:nvSpPr>
        <p:spPr>
          <a:xfrm>
            <a:off x="6217920" y="1554480"/>
            <a:ext cx="5422392" cy="1508760"/>
          </a:xfrm>
          <a:prstGeom prst="roundRect">
            <a:avLst>
              <a:gd name="adj" fmla="val 7273"/>
            </a:avLst>
          </a:prstGeom>
          <a:solidFill>
            <a:srgbClr val="F1F4F7"/>
          </a:solidFill>
          <a:ln w="12700">
            <a:solidFill>
              <a:srgbClr val="F1F4F7"/>
            </a:solidFill>
            <a:prstDash val="solid"/>
          </a:ln>
        </p:spPr>
      </p:sp>
      <p:sp>
        <p:nvSpPr>
          <p:cNvPr id="8" name="Text 6"/>
          <p:cNvSpPr txBox="1"/>
          <p:nvPr/>
        </p:nvSpPr>
        <p:spPr>
          <a:xfrm>
            <a:off x="6400800" y="1691640"/>
            <a:ext cx="5056632"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Curva genérica de Maxim</a:t>
            </a:r>
            <a:endParaRPr lang="en-US" sz="1800" dirty="0"/>
          </a:p>
        </p:txBody>
      </p:sp>
      <p:sp>
        <p:nvSpPr>
          <p:cNvPr id="9" name="Text 7"/>
          <p:cNvSpPr txBox="1"/>
          <p:nvPr/>
        </p:nvSpPr>
        <p:spPr>
          <a:xfrm>
            <a:off x="6400800" y="2148840"/>
            <a:ext cx="5056632" cy="777240"/>
          </a:xfrm>
          <a:prstGeom prst="rect">
            <a:avLst/>
          </a:prstGeom>
          <a:noFill/>
          <a:ln/>
        </p:spPr>
        <p:txBody>
          <a:bodyPr wrap="square" lIns="0" tIns="0" rIns="0" bIns="0" rtlCol="0" anchor="t"/>
          <a:lstStyle/>
          <a:p>
            <a:pPr indent="0" marL="0">
              <a:buNone/>
            </a:pPr>
            <a:r>
              <a:rPr lang="en-US" sz="1800" dirty="0">
                <a:solidFill>
                  <a:schemeClr val="tx2"/>
                </a:solidFill>
              </a:rPr>
              <a:t>SpO₂ = −45.060 R² + 30.354 R + 94.845</a:t>
            </a:r>
            <a:endParaRPr lang="en-US" sz="1800" dirty="0"/>
          </a:p>
        </p:txBody>
      </p:sp>
      <p:sp>
        <p:nvSpPr>
          <p:cNvPr id="10" name="Viñetas"/>
          <p:cNvSpPr txBox="1"/>
          <p:nvPr/>
        </p:nvSpPr>
        <p:spPr>
          <a:xfrm>
            <a:off x="548640" y="3291840"/>
            <a:ext cx="11094415" cy="2011680"/>
          </a:xfrm>
          <a:prstGeom prst="rect">
            <a:avLst/>
          </a:prstGeom>
          <a:noFill/>
          <a:ln/>
        </p:spPr>
        <p:txBody>
          <a:bodyPr wrap="square" rtlCol="0" anchor="t"/>
          <a:lstStyle/>
          <a:p>
            <a:pPr marL="342900" indent="-342900">
              <a:spcAft>
                <a:spcPts val="1000"/>
              </a:spcAft>
              <a:buSzPct val="100000"/>
              <a:buChar char="•"/>
            </a:pPr>
            <a:r>
              <a:rPr lang="en-US" sz="1600" dirty="0">
                <a:solidFill>
                  <a:schemeClr val="tx2"/>
                </a:solidFill>
              </a:rPr>
              <a:t>Cinco criterios por latido: PI IR ≥ 0.2 %, AC rojo ≥ 50, correlación ≥ 0.80, |Rpp − Rrms| ≤ 15 %, ΔDC ≤ 5 %.</a:t>
            </a:r>
            <a:endParaRPr lang="en-US" sz="1600" dirty="0"/>
          </a:p>
          <a:p>
            <a:pPr marL="342900" indent="-342900">
              <a:spcAft>
                <a:spcPts val="1000"/>
              </a:spcAft>
              <a:buSzPct val="100000"/>
              <a:buChar char="•"/>
            </a:pPr>
            <a:r>
              <a:rPr lang="en-US" sz="1600" dirty="0">
                <a:solidFill>
                  <a:schemeClr val="tx2"/>
                </a:solidFill>
              </a:rPr>
              <a:t>R útil entre 0.34 y 1.15; se muestra la mediana de hasta 8 R válidos (mínimo 5, CV ≤ 10 %).</a:t>
            </a:r>
            <a:endParaRPr lang="en-US" sz="1600" dirty="0"/>
          </a:p>
          <a:p>
            <a:pPr marL="342900" indent="-342900">
              <a:spcAft>
                <a:spcPts val="1000"/>
              </a:spcAft>
              <a:buSzPct val="100000"/>
              <a:buChar char="•"/>
            </a:pPr>
            <a:r>
              <a:rPr lang="en-US" sz="1600" dirty="0">
                <a:solidFill>
                  <a:schemeClr val="tx2"/>
                </a:solidFill>
              </a:rPr>
              <a:t>Estados: SIN SEÑAL, ESTABILIZANDO, CALIDAD INSUFICIENTE, FUERA DE RANGO y VÁLIDA.</a:t>
            </a:r>
            <a:endParaRPr lang="en-US" sz="1600" dirty="0"/>
          </a:p>
        </p:txBody>
      </p:sp>
      <p:sp>
        <p:nvSpPr>
          <p:cNvPr id="11" name="Shape 9"/>
          <p:cNvSpPr/>
          <p:nvPr/>
        </p:nvSpPr>
        <p:spPr>
          <a:xfrm>
            <a:off x="548640" y="5440680"/>
            <a:ext cx="11094415" cy="731520"/>
          </a:xfrm>
          <a:prstGeom prst="roundRect">
            <a:avLst>
              <a:gd name="adj" fmla="val 12500"/>
            </a:avLst>
          </a:prstGeom>
          <a:solidFill>
            <a:srgbClr val="F8E7DA"/>
          </a:solidFill>
          <a:ln w="12700">
            <a:solidFill>
              <a:srgbClr val="F8E7DA"/>
            </a:solidFill>
            <a:prstDash val="solid"/>
          </a:ln>
        </p:spPr>
      </p:sp>
      <p:sp>
        <p:nvSpPr>
          <p:cNvPr id="12" name="Text 10"/>
          <p:cNvSpPr txBox="1"/>
          <p:nvPr/>
        </p:nvSpPr>
        <p:spPr>
          <a:xfrm>
            <a:off x="777240" y="5440680"/>
            <a:ext cx="10637215" cy="731520"/>
          </a:xfrm>
          <a:prstGeom prst="rect">
            <a:avLst/>
          </a:prstGeom>
          <a:noFill/>
          <a:ln/>
        </p:spPr>
        <p:txBody>
          <a:bodyPr wrap="square" lIns="0" tIns="0" rIns="0" bIns="0" rtlCol="0" anchor="ctr"/>
          <a:lstStyle/>
          <a:p>
            <a:pPr indent="0" marL="0">
              <a:buNone/>
            </a:pPr>
            <a:r>
              <a:rPr lang="en-US" sz="1600" b="1" dirty="0">
                <a:solidFill>
                  <a:schemeClr val="tx1"/>
                </a:solidFill>
              </a:rPr>
              <a:t>Coeficientes genéricos, sin calibrar: es una estimación experimental, no una medición clínica validada.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INTERFAZ</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Interfaz TFT</a:t>
            </a:r>
            <a:endParaRPr lang="en-US" sz="3400" dirty="0"/>
          </a:p>
        </p:txBody>
      </p:sp>
      <p:sp>
        <p:nvSpPr>
          <p:cNvPr id="4" name="Viñetas"/>
          <p:cNvSpPr txBox="1"/>
          <p:nvPr/>
        </p:nvSpPr>
        <p:spPr>
          <a:xfrm>
            <a:off x="548640" y="1600200"/>
            <a:ext cx="7498080" cy="4480560"/>
          </a:xfrm>
          <a:prstGeom prst="rect">
            <a:avLst/>
          </a:prstGeom>
          <a:noFill/>
          <a:ln/>
        </p:spPr>
        <p:txBody>
          <a:bodyPr wrap="square" rtlCol="0" anchor="t"/>
          <a:lstStyle/>
          <a:p>
            <a:pPr marL="342900" indent="-342900">
              <a:spcAft>
                <a:spcPts val="1000"/>
              </a:spcAft>
              <a:buSzPct val="100000"/>
              <a:buChar char="•"/>
            </a:pPr>
            <a:r>
              <a:rPr lang="en-US" sz="1800" dirty="0">
                <a:solidFill>
                  <a:schemeClr val="tx2"/>
                </a:solidFill>
              </a:rPr>
              <a:t>Distribución B: BPM, SpO₂ con un decimal, calidad, gráfica y pie.</a:t>
            </a:r>
            <a:endParaRPr lang="en-US" sz="1800" dirty="0"/>
          </a:p>
          <a:p>
            <a:pPr marL="342900" indent="-342900">
              <a:spcAft>
                <a:spcPts val="1000"/>
              </a:spcAft>
              <a:buSzPct val="100000"/>
              <a:buChar char="•"/>
            </a:pPr>
            <a:r>
              <a:rPr lang="en-US" sz="1800" dirty="0">
                <a:solidFill>
                  <a:schemeClr val="tx2"/>
                </a:solidFill>
              </a:rPr>
              <a:t>Estados revisados cada 250 ms; cada campo se redibuja como máximo cada 500 ms.</a:t>
            </a:r>
            <a:endParaRPr lang="en-US" sz="1800" dirty="0"/>
          </a:p>
          <a:p>
            <a:pPr marL="342900" indent="-342900">
              <a:spcAft>
                <a:spcPts val="1000"/>
              </a:spcAft>
              <a:buSzPct val="100000"/>
              <a:buChar char="•"/>
            </a:pPr>
            <a:r>
              <a:rPr lang="en-US" sz="1800" dirty="0">
                <a:solidFill>
                  <a:schemeClr val="tx2"/>
                </a:solidFill>
              </a:rPr>
              <a:t>Sin borrar la pantalla durante la medición: peor caso ≈ 18.3 ms (Etapa 7.3).</a:t>
            </a:r>
            <a:endParaRPr lang="en-US" sz="1800" dirty="0"/>
          </a:p>
          <a:p>
            <a:pPr marL="342900" indent="-342900">
              <a:spcAft>
                <a:spcPts val="1000"/>
              </a:spcAft>
              <a:buSzPct val="100000"/>
              <a:buChar char="•"/>
            </a:pPr>
            <a:r>
              <a:rPr lang="en-US" sz="1800" dirty="0">
                <a:solidFill>
                  <a:schemeClr val="tx2"/>
                </a:solidFill>
              </a:rPr>
              <a:t>Calidad: BUENA, REGULAR, MALA, SIN DEDO o BUSCANDO.</a:t>
            </a:r>
            <a:endParaRPr lang="en-US" sz="1800" dirty="0"/>
          </a:p>
          <a:p>
            <a:pPr marL="342900" indent="-342900">
              <a:spcAft>
                <a:spcPts val="1000"/>
              </a:spcAft>
              <a:buSzPct val="100000"/>
              <a:buChar char="•"/>
            </a:pPr>
            <a:r>
              <a:rPr lang="en-US" sz="1800" dirty="0">
                <a:solidFill>
                  <a:schemeClr val="tx2"/>
                </a:solidFill>
              </a:rPr>
              <a:t>Al encender: aviso de 3 s “NO ES DISPOSITIVO MEDICO”.</a:t>
            </a:r>
            <a:endParaRPr lang="en-US" sz="1800" dirty="0"/>
          </a:p>
        </p:txBody>
      </p:sp>
      <p:pic>
        <p:nvPicPr>
          <p:cNvPr id="5" name="Pantalla simulada en PC" descr="Pantalla simulada en PC">    </p:cNvPr>
          <p:cNvPicPr>
            <a:picLocks noChangeAspect="1"/>
          </p:cNvPicPr>
          <p:nvPr/>
        </p:nvPicPr>
        <p:blipFill>
          <a:blip r:embed="rId1"/>
          <a:stretch>
            <a:fillRect/>
          </a:stretch>
        </p:blipFill>
        <p:spPr>
          <a:xfrm>
            <a:off x="8778240" y="1554480"/>
            <a:ext cx="2834640" cy="3703320"/>
          </a:xfrm>
          <a:prstGeom prst="rect">
            <a:avLst/>
          </a:prstGeom>
        </p:spPr>
      </p:pic>
      <p:sp>
        <p:nvSpPr>
          <p:cNvPr id="6" name="Text 3"/>
          <p:cNvSpPr txBox="1"/>
          <p:nvPr/>
        </p:nvSpPr>
        <p:spPr>
          <a:xfrm>
            <a:off x="8229600" y="5349240"/>
            <a:ext cx="3474720" cy="320040"/>
          </a:xfrm>
          <a:prstGeom prst="rect">
            <a:avLst/>
          </a:prstGeom>
          <a:noFill/>
          <a:ln/>
        </p:spPr>
        <p:txBody>
          <a:bodyPr wrap="square" lIns="0" tIns="0" rIns="0" bIns="0" rtlCol="0" anchor="ctr"/>
          <a:lstStyle/>
          <a:p>
            <a:pPr indent="0" marL="0">
              <a:buNone/>
            </a:pPr>
            <a:r>
              <a:rPr lang="en-US" sz="1200" i="1" dirty="0">
                <a:solidFill>
                  <a:schemeClr val="accent6"/>
                </a:solidFill>
              </a:rPr>
              <a:t>Simulación en PC (Etapa 8.2); valores ilustrativos, no medidos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INTERFAZ</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Gráfica PPG en tiempo real</a:t>
            </a:r>
            <a:endParaRPr lang="en-US" sz="3400" dirty="0"/>
          </a:p>
        </p:txBody>
      </p:sp>
      <p:sp>
        <p:nvSpPr>
          <p:cNvPr id="4" name="Viñetas"/>
          <p:cNvSpPr txBox="1"/>
          <p:nvPr/>
        </p:nvSpPr>
        <p:spPr>
          <a:xfrm>
            <a:off x="548640" y="1600200"/>
            <a:ext cx="6949440" cy="3108960"/>
          </a:xfrm>
          <a:prstGeom prst="rect">
            <a:avLst/>
          </a:prstGeom>
          <a:noFill/>
          <a:ln/>
        </p:spPr>
        <p:txBody>
          <a:bodyPr wrap="square" rtlCol="0" anchor="t"/>
          <a:lstStyle/>
          <a:p>
            <a:pPr marL="342900" indent="-342900">
              <a:spcAft>
                <a:spcPts val="1000"/>
              </a:spcAft>
              <a:buSzPct val="100000"/>
              <a:buChar char="•"/>
            </a:pPr>
            <a:r>
              <a:rPr lang="en-US" sz="1700" dirty="0">
                <a:solidFill>
                  <a:schemeClr val="tx2"/>
                </a:solidFill>
              </a:rPr>
              <a:t>Lee el búfer que ya existe para R: no hace otra adquisición.</a:t>
            </a:r>
            <a:endParaRPr lang="en-US" sz="1700" dirty="0"/>
          </a:p>
          <a:p>
            <a:pPr marL="342900" indent="-342900">
              <a:spcAft>
                <a:spcPts val="1000"/>
              </a:spcAft>
              <a:buSzPct val="100000"/>
              <a:buChar char="•"/>
            </a:pPr>
            <a:r>
              <a:rPr lang="en-US" sz="1700" dirty="0">
                <a:solidFill>
                  <a:schemeClr val="tx2"/>
                </a:solidFill>
              </a:rPr>
              <a:t>4 muestras por columna: ≈ 25 columnas/s y ≈ 5.1 s por pantalla.</a:t>
            </a:r>
            <a:endParaRPr lang="en-US" sz="1700" dirty="0"/>
          </a:p>
          <a:p>
            <a:pPr marL="342900" indent="-342900">
              <a:spcAft>
                <a:spcPts val="1000"/>
              </a:spcAft>
              <a:buSzPct val="100000"/>
              <a:buChar char="•"/>
            </a:pPr>
            <a:r>
              <a:rPr lang="en-US" sz="1700" dirty="0">
                <a:solidFill>
                  <a:schemeClr val="tx2"/>
                </a:solidFill>
              </a:rPr>
              <a:t>Escala automática: crece rápido, se reduce despacio, mínimo 40 cuentas.</a:t>
            </a:r>
            <a:endParaRPr lang="en-US" sz="1700" dirty="0"/>
          </a:p>
          <a:p>
            <a:pPr marL="342900" indent="-342900">
              <a:spcAft>
                <a:spcPts val="1000"/>
              </a:spcAft>
              <a:buSzPct val="100000"/>
              <a:buChar char="•"/>
            </a:pPr>
            <a:r>
              <a:rPr lang="en-US" sz="1700" dirty="0">
                <a:solidFill>
                  <a:schemeClr val="tx2"/>
                </a:solidFill>
              </a:rPr>
              <a:t>Verde con BUENA o REGULAR, gris con BUSCANDO o MALA, plana sin dedo.</a:t>
            </a:r>
            <a:endParaRPr lang="en-US" sz="1700" dirty="0"/>
          </a:p>
          <a:p>
            <a:pPr marL="342900" indent="-342900">
              <a:spcAft>
                <a:spcPts val="1000"/>
              </a:spcAft>
              <a:buSzPct val="100000"/>
              <a:buChar char="•"/>
            </a:pPr>
            <a:r>
              <a:rPr lang="en-US" sz="1700" dirty="0">
                <a:solidFill>
                  <a:schemeClr val="tx2"/>
                </a:solidFill>
              </a:rPr>
              <a:t>Se corta si hay muestras perdidas; el comando l la activa o desactiva.</a:t>
            </a:r>
            <a:endParaRPr lang="en-US" sz="1700" dirty="0"/>
          </a:p>
        </p:txBody>
      </p:sp>
      <p:sp>
        <p:nvSpPr>
          <p:cNvPr id="5" name="Text 3"/>
          <p:cNvSpPr txBox="1"/>
          <p:nvPr/>
        </p:nvSpPr>
        <p:spPr>
          <a:xfrm>
            <a:off x="7863840" y="1645920"/>
            <a:ext cx="374904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142 µs</a:t>
            </a:r>
            <a:endParaRPr lang="en-US" sz="4400" dirty="0"/>
          </a:p>
        </p:txBody>
      </p:sp>
      <p:sp>
        <p:nvSpPr>
          <p:cNvPr id="6" name="Text 4"/>
          <p:cNvSpPr txBox="1"/>
          <p:nvPr/>
        </p:nvSpPr>
        <p:spPr>
          <a:xfrm>
            <a:off x="7863840" y="2468880"/>
            <a:ext cx="3749040" cy="548640"/>
          </a:xfrm>
          <a:prstGeom prst="rect">
            <a:avLst/>
          </a:prstGeom>
          <a:noFill/>
          <a:ln/>
        </p:spPr>
        <p:txBody>
          <a:bodyPr wrap="square" lIns="0" tIns="0" rIns="0" bIns="0" rtlCol="0" anchor="t"/>
          <a:lstStyle/>
          <a:p>
            <a:pPr indent="0" marL="0">
              <a:buNone/>
            </a:pPr>
            <a:r>
              <a:rPr lang="en-US" sz="1400" dirty="0">
                <a:solidFill>
                  <a:schemeClr val="tx2"/>
                </a:solidFill>
              </a:rPr>
              <a:t>por columna de onda, medido en la Etapa 7.1 (hardware)</a:t>
            </a:r>
            <a:endParaRPr lang="en-US" sz="1400" dirty="0"/>
          </a:p>
        </p:txBody>
      </p:sp>
      <p:sp>
        <p:nvSpPr>
          <p:cNvPr id="7" name="Text 5"/>
          <p:cNvSpPr txBox="1"/>
          <p:nvPr/>
        </p:nvSpPr>
        <p:spPr>
          <a:xfrm>
            <a:off x="7863840" y="3108960"/>
            <a:ext cx="3749040" cy="8229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H8 y H9</a:t>
            </a:r>
            <a:endParaRPr lang="en-US" sz="4400" dirty="0"/>
          </a:p>
        </p:txBody>
      </p:sp>
      <p:sp>
        <p:nvSpPr>
          <p:cNvPr id="8" name="Text 6"/>
          <p:cNvSpPr txBox="1"/>
          <p:nvPr/>
        </p:nvSpPr>
        <p:spPr>
          <a:xfrm>
            <a:off x="7863840" y="3931920"/>
            <a:ext cx="3749040" cy="548640"/>
          </a:xfrm>
          <a:prstGeom prst="rect">
            <a:avLst/>
          </a:prstGeom>
          <a:noFill/>
          <a:ln/>
        </p:spPr>
        <p:txBody>
          <a:bodyPr wrap="square" lIns="0" tIns="0" rIns="0" bIns="0" rtlCol="0" anchor="t"/>
          <a:lstStyle/>
          <a:p>
            <a:pPr indent="0" marL="0">
              <a:buNone/>
            </a:pPr>
            <a:r>
              <a:rPr lang="en-US" sz="1400" dirty="0">
                <a:solidFill>
                  <a:schemeClr val="tx2"/>
                </a:solidFill>
              </a:rPr>
              <a:t>barrido real e interacción SPI–I²C: pendientes de ejecución</a:t>
            </a:r>
            <a:endParaRPr lang="en-US" sz="1400" dirty="0"/>
          </a:p>
        </p:txBody>
      </p:sp>
      <p:pic>
        <p:nvPicPr>
          <p:cNvPr id="9" name="Secuencia de pantallas simuladas" descr="Secuencia de pantallas simuladas">    </p:cNvPr>
          <p:cNvPicPr>
            <a:picLocks noChangeAspect="1"/>
          </p:cNvPicPr>
          <p:nvPr/>
        </p:nvPicPr>
        <p:blipFill>
          <a:blip r:embed="rId1"/>
          <a:stretch>
            <a:fillRect/>
          </a:stretch>
        </p:blipFill>
        <p:spPr>
          <a:xfrm>
            <a:off x="548640" y="4754880"/>
            <a:ext cx="6035040" cy="1536192"/>
          </a:xfrm>
          <a:prstGeom prst="rect">
            <a:avLst/>
          </a:prstGeom>
        </p:spPr>
      </p:pic>
      <p:sp>
        <p:nvSpPr>
          <p:cNvPr id="10" name="Text 7"/>
          <p:cNvSpPr txBox="1"/>
          <p:nvPr/>
        </p:nvSpPr>
        <p:spPr>
          <a:xfrm>
            <a:off x="6720840" y="5349240"/>
            <a:ext cx="4937760" cy="320040"/>
          </a:xfrm>
          <a:prstGeom prst="rect">
            <a:avLst/>
          </a:prstGeom>
          <a:noFill/>
          <a:ln/>
        </p:spPr>
        <p:txBody>
          <a:bodyPr wrap="square" lIns="0" tIns="0" rIns="0" bIns="0" rtlCol="0" anchor="ctr"/>
          <a:lstStyle/>
          <a:p>
            <a:pPr indent="0" marL="0">
              <a:buNone/>
            </a:pPr>
            <a:r>
              <a:rPr lang="en-US" sz="1200" i="1" dirty="0">
                <a:solidFill>
                  <a:schemeClr val="accent6"/>
                </a:solidFill>
              </a:rPr>
              <a:t>Simulación en PC (Etapa 8.2): SIN DEDO → BUSCANDO → REGULAR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ROBUSTEZ · ETAPA 9</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Robustez P1–P4</a:t>
            </a:r>
            <a:endParaRPr lang="en-US" sz="3400" dirty="0"/>
          </a:p>
        </p:txBody>
      </p:sp>
      <p:sp>
        <p:nvSpPr>
          <p:cNvPr id="4" name="Tarjeta P1 · 1 s"/>
          <p:cNvSpPr/>
          <p:nvPr/>
        </p:nvSpPr>
        <p:spPr>
          <a:xfrm>
            <a:off x="548640" y="1554480"/>
            <a:ext cx="2606040" cy="1691640"/>
          </a:xfrm>
          <a:prstGeom prst="roundRect">
            <a:avLst>
              <a:gd name="adj" fmla="val 6486"/>
            </a:avLst>
          </a:prstGeom>
          <a:solidFill>
            <a:srgbClr val="F1F4F7"/>
          </a:solidFill>
          <a:ln w="12700">
            <a:solidFill>
              <a:srgbClr val="F1F4F7"/>
            </a:solidFill>
            <a:prstDash val="solid"/>
          </a:ln>
        </p:spPr>
      </p:sp>
      <p:sp>
        <p:nvSpPr>
          <p:cNvPr id="5" name="Text 3"/>
          <p:cNvSpPr txBox="1"/>
          <p:nvPr/>
        </p:nvSpPr>
        <p:spPr>
          <a:xfrm>
            <a:off x="731520" y="1691640"/>
            <a:ext cx="22402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P1 · 1 s</a:t>
            </a:r>
            <a:endParaRPr lang="en-US" sz="1800" dirty="0"/>
          </a:p>
        </p:txBody>
      </p:sp>
      <p:sp>
        <p:nvSpPr>
          <p:cNvPr id="6" name="Text 4"/>
          <p:cNvSpPr txBox="1"/>
          <p:nvPr/>
        </p:nvSpPr>
        <p:spPr>
          <a:xfrm>
            <a:off x="731520" y="2148840"/>
            <a:ext cx="2240280" cy="960120"/>
          </a:xfrm>
          <a:prstGeom prst="rect">
            <a:avLst/>
          </a:prstGeom>
          <a:noFill/>
          <a:ln/>
        </p:spPr>
        <p:txBody>
          <a:bodyPr wrap="square" lIns="0" tIns="0" rIns="0" bIns="0" rtlCol="0" anchor="t"/>
          <a:lstStyle/>
          <a:p>
            <a:pPr indent="0" marL="0">
              <a:buNone/>
            </a:pPr>
            <a:r>
              <a:rPr lang="en-US" sz="1500" dirty="0">
                <a:solidFill>
                  <a:schemeClr val="tx2"/>
                </a:solidFill>
              </a:rPr>
              <a:t>Sin muestras: oculta valores y muestra SENSOR NO RESPONDE</a:t>
            </a:r>
            <a:endParaRPr lang="en-US" sz="1500" dirty="0"/>
          </a:p>
        </p:txBody>
      </p:sp>
      <p:sp>
        <p:nvSpPr>
          <p:cNvPr id="7" name="Tarjeta P2 · 3 s"/>
          <p:cNvSpPr/>
          <p:nvPr/>
        </p:nvSpPr>
        <p:spPr>
          <a:xfrm>
            <a:off x="3374136" y="1554480"/>
            <a:ext cx="2606040" cy="1691640"/>
          </a:xfrm>
          <a:prstGeom prst="roundRect">
            <a:avLst>
              <a:gd name="adj" fmla="val 6486"/>
            </a:avLst>
          </a:prstGeom>
          <a:solidFill>
            <a:srgbClr val="F1F4F7"/>
          </a:solidFill>
          <a:ln w="12700">
            <a:solidFill>
              <a:srgbClr val="F1F4F7"/>
            </a:solidFill>
            <a:prstDash val="solid"/>
          </a:ln>
        </p:spPr>
      </p:sp>
      <p:sp>
        <p:nvSpPr>
          <p:cNvPr id="8" name="Text 6"/>
          <p:cNvSpPr txBox="1"/>
          <p:nvPr/>
        </p:nvSpPr>
        <p:spPr>
          <a:xfrm>
            <a:off x="3557016" y="1691640"/>
            <a:ext cx="22402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P2 · 3 s</a:t>
            </a:r>
            <a:endParaRPr lang="en-US" sz="1800" dirty="0"/>
          </a:p>
        </p:txBody>
      </p:sp>
      <p:sp>
        <p:nvSpPr>
          <p:cNvPr id="9" name="Text 7"/>
          <p:cNvSpPr txBox="1"/>
          <p:nvPr/>
        </p:nvSpPr>
        <p:spPr>
          <a:xfrm>
            <a:off x="3557016" y="2148840"/>
            <a:ext cx="2240280" cy="960120"/>
          </a:xfrm>
          <a:prstGeom prst="rect">
            <a:avLst/>
          </a:prstGeom>
          <a:noFill/>
          <a:ln/>
        </p:spPr>
        <p:txBody>
          <a:bodyPr wrap="square" lIns="0" tIns="0" rIns="0" bIns="0" rtlCol="0" anchor="t"/>
          <a:lstStyle/>
          <a:p>
            <a:pPr indent="0" marL="0">
              <a:buNone/>
            </a:pPr>
            <a:r>
              <a:rPr lang="en-US" sz="1500" dirty="0">
                <a:solidFill>
                  <a:schemeClr val="tx2"/>
                </a:solidFill>
              </a:rPr>
              <a:t>Reinicializa el sensor sin reiniciar el ESP32</a:t>
            </a:r>
            <a:endParaRPr lang="en-US" sz="1500" dirty="0"/>
          </a:p>
        </p:txBody>
      </p:sp>
      <p:sp>
        <p:nvSpPr>
          <p:cNvPr id="10" name="Tarjeta P3 · arranque"/>
          <p:cNvSpPr/>
          <p:nvPr/>
        </p:nvSpPr>
        <p:spPr>
          <a:xfrm>
            <a:off x="6199632" y="1554480"/>
            <a:ext cx="2606040" cy="1691640"/>
          </a:xfrm>
          <a:prstGeom prst="roundRect">
            <a:avLst>
              <a:gd name="adj" fmla="val 6486"/>
            </a:avLst>
          </a:prstGeom>
          <a:solidFill>
            <a:srgbClr val="F1F4F7"/>
          </a:solidFill>
          <a:ln w="12700">
            <a:solidFill>
              <a:srgbClr val="F1F4F7"/>
            </a:solidFill>
            <a:prstDash val="solid"/>
          </a:ln>
        </p:spPr>
      </p:sp>
      <p:sp>
        <p:nvSpPr>
          <p:cNvPr id="11" name="Text 9"/>
          <p:cNvSpPr txBox="1"/>
          <p:nvPr/>
        </p:nvSpPr>
        <p:spPr>
          <a:xfrm>
            <a:off x="6382512" y="1691640"/>
            <a:ext cx="22402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P3 · arranque</a:t>
            </a:r>
            <a:endParaRPr lang="en-US" sz="1800" dirty="0"/>
          </a:p>
        </p:txBody>
      </p:sp>
      <p:sp>
        <p:nvSpPr>
          <p:cNvPr id="12" name="Text 10"/>
          <p:cNvSpPr txBox="1"/>
          <p:nvPr/>
        </p:nvSpPr>
        <p:spPr>
          <a:xfrm>
            <a:off x="6382512" y="2148840"/>
            <a:ext cx="2240280" cy="960120"/>
          </a:xfrm>
          <a:prstGeom prst="rect">
            <a:avLst/>
          </a:prstGeom>
          <a:noFill/>
          <a:ln/>
        </p:spPr>
        <p:txBody>
          <a:bodyPr wrap="square" lIns="0" tIns="0" rIns="0" bIns="0" rtlCol="0" anchor="t"/>
          <a:lstStyle/>
          <a:p>
            <a:pPr indent="0" marL="0">
              <a:buNone/>
            </a:pPr>
            <a:r>
              <a:rPr lang="en-US" sz="1500" dirty="0">
                <a:solidFill>
                  <a:schemeClr val="tx2"/>
                </a:solidFill>
              </a:rPr>
              <a:t>Separa pérdidas de arranque y de operación</a:t>
            </a:r>
            <a:endParaRPr lang="en-US" sz="1500" dirty="0"/>
          </a:p>
        </p:txBody>
      </p:sp>
      <p:sp>
        <p:nvSpPr>
          <p:cNvPr id="13" name="Tarjeta P4 · tiempos"/>
          <p:cNvSpPr/>
          <p:nvPr/>
        </p:nvSpPr>
        <p:spPr>
          <a:xfrm>
            <a:off x="9025128" y="1554480"/>
            <a:ext cx="2606040" cy="1691640"/>
          </a:xfrm>
          <a:prstGeom prst="roundRect">
            <a:avLst>
              <a:gd name="adj" fmla="val 6486"/>
            </a:avLst>
          </a:prstGeom>
          <a:solidFill>
            <a:srgbClr val="F1F4F7"/>
          </a:solidFill>
          <a:ln w="12700">
            <a:solidFill>
              <a:srgbClr val="F1F4F7"/>
            </a:solidFill>
            <a:prstDash val="solid"/>
          </a:ln>
        </p:spPr>
      </p:sp>
      <p:sp>
        <p:nvSpPr>
          <p:cNvPr id="14" name="Text 12"/>
          <p:cNvSpPr txBox="1"/>
          <p:nvPr/>
        </p:nvSpPr>
        <p:spPr>
          <a:xfrm>
            <a:off x="9208008" y="1691640"/>
            <a:ext cx="22402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P4 · tiempos</a:t>
            </a:r>
            <a:endParaRPr lang="en-US" sz="1800" dirty="0"/>
          </a:p>
        </p:txBody>
      </p:sp>
      <p:sp>
        <p:nvSpPr>
          <p:cNvPr id="15" name="Text 13"/>
          <p:cNvSpPr txBox="1"/>
          <p:nvPr/>
        </p:nvSpPr>
        <p:spPr>
          <a:xfrm>
            <a:off x="9208008" y="2148840"/>
            <a:ext cx="2240280" cy="960120"/>
          </a:xfrm>
          <a:prstGeom prst="rect">
            <a:avLst/>
          </a:prstGeom>
          <a:noFill/>
          <a:ln/>
        </p:spPr>
        <p:txBody>
          <a:bodyPr wrap="square" lIns="0" tIns="0" rIns="0" bIns="0" rtlCol="0" anchor="t"/>
          <a:lstStyle/>
          <a:p>
            <a:pPr indent="0" marL="0">
              <a:buNone/>
            </a:pPr>
            <a:r>
              <a:rPr lang="en-US" sz="1500" dirty="0">
                <a:solidFill>
                  <a:schemeClr val="tx2"/>
                </a:solidFill>
              </a:rPr>
              <a:t>Sumas de 64 bits y tramos de diagnóstico con z</a:t>
            </a:r>
            <a:endParaRPr lang="en-US" sz="1500" dirty="0"/>
          </a:p>
        </p:txBody>
      </p:sp>
      <p:pic>
        <p:nvPicPr>
          <p:cNvPr id="16" name="Secuencia simulada de falla y recuperación del sensor" descr="Secuencia simulada de falla y recuperación del sensor">    </p:cNvPr>
          <p:cNvPicPr>
            <a:picLocks noChangeAspect="1"/>
          </p:cNvPicPr>
          <p:nvPr/>
        </p:nvPicPr>
        <p:blipFill>
          <a:blip r:embed="rId1"/>
          <a:stretch>
            <a:fillRect/>
          </a:stretch>
        </p:blipFill>
        <p:spPr>
          <a:xfrm>
            <a:off x="548640" y="3474720"/>
            <a:ext cx="9509760" cy="2423160"/>
          </a:xfrm>
          <a:prstGeom prst="rect">
            <a:avLst/>
          </a:prstGeom>
        </p:spPr>
      </p:pic>
      <p:sp>
        <p:nvSpPr>
          <p:cNvPr id="17" name="Text 14"/>
          <p:cNvSpPr txBox="1"/>
          <p:nvPr/>
        </p:nvSpPr>
        <p:spPr>
          <a:xfrm>
            <a:off x="548640" y="5943600"/>
            <a:ext cx="10972800" cy="320040"/>
          </a:xfrm>
          <a:prstGeom prst="rect">
            <a:avLst/>
          </a:prstGeom>
          <a:noFill/>
          <a:ln/>
        </p:spPr>
        <p:txBody>
          <a:bodyPr wrap="square" lIns="0" tIns="0" rIns="0" bIns="0" rtlCol="0" anchor="ctr"/>
          <a:lstStyle/>
          <a:p>
            <a:pPr indent="0" marL="0">
              <a:buNone/>
            </a:pPr>
            <a:r>
              <a:rPr lang="en-US" sz="1200" i="1" dirty="0">
                <a:solidFill>
                  <a:schemeClr val="accent6"/>
                </a:solidFill>
              </a:rPr>
              <a:t>Simulación en PC, no hardware: normal → NO RESPONDE → NO DETECTADO → recuperado → BPM de nuevo</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PRUEBAS · ETAPA 10</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Metodología de pruebas</a:t>
            </a:r>
            <a:endParaRPr lang="en-US" sz="3400" dirty="0"/>
          </a:p>
        </p:txBody>
      </p:sp>
      <p:sp>
        <p:nvSpPr>
          <p:cNvPr id="4" name="Tarjeta 1 · Unitarias en PC"/>
          <p:cNvSpPr/>
          <p:nvPr/>
        </p:nvSpPr>
        <p:spPr>
          <a:xfrm>
            <a:off x="548640" y="1554480"/>
            <a:ext cx="3520440" cy="2377440"/>
          </a:xfrm>
          <a:prstGeom prst="roundRect">
            <a:avLst>
              <a:gd name="adj" fmla="val 4615"/>
            </a:avLst>
          </a:prstGeom>
          <a:solidFill>
            <a:srgbClr val="E1F0E7"/>
          </a:solidFill>
          <a:ln w="12700">
            <a:solidFill>
              <a:srgbClr val="E1F0E7"/>
            </a:solidFill>
            <a:prstDash val="solid"/>
          </a:ln>
        </p:spPr>
      </p:sp>
      <p:sp>
        <p:nvSpPr>
          <p:cNvPr id="5" name="Text 3"/>
          <p:cNvSpPr txBox="1"/>
          <p:nvPr/>
        </p:nvSpPr>
        <p:spPr>
          <a:xfrm>
            <a:off x="731520" y="1691640"/>
            <a:ext cx="31546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1 · Unitarias en PC</a:t>
            </a:r>
            <a:endParaRPr lang="en-US" sz="1800" dirty="0"/>
          </a:p>
        </p:txBody>
      </p:sp>
      <p:sp>
        <p:nvSpPr>
          <p:cNvPr id="6" name="Text 4"/>
          <p:cNvSpPr txBox="1"/>
          <p:nvPr/>
        </p:nvSpPr>
        <p:spPr>
          <a:xfrm>
            <a:off x="731520" y="2148840"/>
            <a:ext cx="3154680" cy="1645920"/>
          </a:xfrm>
          <a:prstGeom prst="rect">
            <a:avLst/>
          </a:prstGeom>
          <a:noFill/>
          <a:ln/>
        </p:spPr>
        <p:txBody>
          <a:bodyPr wrap="square" lIns="0" tIns="0" rIns="0" bIns="0" rtlCol="0" anchor="t"/>
          <a:lstStyle/>
          <a:p>
            <a:pPr indent="0" marL="0">
              <a:buNone/>
            </a:pPr>
            <a:r>
              <a:rPr lang="en-US" sz="1500" dirty="0">
                <a:solidFill>
                  <a:schemeClr val="tx2"/>
                </a:solidFill>
              </a:rPr>
              <a:t>45 funciones puras o deterministas contra referencias en Python</a:t>
            </a:r>
            <a:endParaRPr lang="en-US" sz="1500" dirty="0"/>
          </a:p>
        </p:txBody>
      </p:sp>
      <p:sp>
        <p:nvSpPr>
          <p:cNvPr id="7" name="Text 5"/>
          <p:cNvSpPr txBox="1"/>
          <p:nvPr/>
        </p:nvSpPr>
        <p:spPr>
          <a:xfrm>
            <a:off x="731520" y="3429000"/>
            <a:ext cx="3154680" cy="365760"/>
          </a:xfrm>
          <a:prstGeom prst="rect">
            <a:avLst/>
          </a:prstGeom>
          <a:noFill/>
          <a:ln/>
        </p:spPr>
        <p:txBody>
          <a:bodyPr wrap="square" lIns="0" tIns="0" rIns="0" bIns="0" rtlCol="0" anchor="ctr"/>
          <a:lstStyle/>
          <a:p>
            <a:pPr indent="0" marL="0">
              <a:buNone/>
            </a:pPr>
            <a:r>
              <a:rPr lang="en-US" sz="1600" b="1" dirty="0">
                <a:solidFill>
                  <a:schemeClr val="accent3"/>
                </a:solidFill>
              </a:rPr>
              <a:t>Ejecutadas: 116/116</a:t>
            </a:r>
            <a:endParaRPr lang="en-US" sz="1600" dirty="0"/>
          </a:p>
        </p:txBody>
      </p:sp>
      <p:sp>
        <p:nvSpPr>
          <p:cNvPr id="8" name="Tarjeta 2 · Integración en PC"/>
          <p:cNvSpPr/>
          <p:nvPr/>
        </p:nvSpPr>
        <p:spPr>
          <a:xfrm>
            <a:off x="4334256" y="1554480"/>
            <a:ext cx="3520440" cy="2377440"/>
          </a:xfrm>
          <a:prstGeom prst="roundRect">
            <a:avLst>
              <a:gd name="adj" fmla="val 4615"/>
            </a:avLst>
          </a:prstGeom>
          <a:solidFill>
            <a:srgbClr val="F1F4F7"/>
          </a:solidFill>
          <a:ln w="12700">
            <a:solidFill>
              <a:srgbClr val="F1F4F7"/>
            </a:solidFill>
            <a:prstDash val="solid"/>
          </a:ln>
        </p:spPr>
      </p:sp>
      <p:sp>
        <p:nvSpPr>
          <p:cNvPr id="9" name="Text 7"/>
          <p:cNvSpPr txBox="1"/>
          <p:nvPr/>
        </p:nvSpPr>
        <p:spPr>
          <a:xfrm>
            <a:off x="4517136" y="1691640"/>
            <a:ext cx="31546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2 · Integración en PC</a:t>
            </a:r>
            <a:endParaRPr lang="en-US" sz="1800" dirty="0"/>
          </a:p>
        </p:txBody>
      </p:sp>
      <p:sp>
        <p:nvSpPr>
          <p:cNvPr id="10" name="Text 8"/>
          <p:cNvSpPr txBox="1"/>
          <p:nvPr/>
        </p:nvSpPr>
        <p:spPr>
          <a:xfrm>
            <a:off x="4517136" y="2148840"/>
            <a:ext cx="3154680" cy="1645920"/>
          </a:xfrm>
          <a:prstGeom prst="rect">
            <a:avLst/>
          </a:prstGeom>
          <a:noFill/>
          <a:ln/>
        </p:spPr>
        <p:txBody>
          <a:bodyPr wrap="square" lIns="0" tIns="0" rIns="0" bIns="0" rtlCol="0" anchor="t"/>
          <a:lstStyle/>
          <a:p>
            <a:pPr indent="0" marL="0">
              <a:buNone/>
            </a:pPr>
            <a:r>
              <a:rPr lang="en-US" sz="1500" dirty="0">
                <a:solidFill>
                  <a:schemeClr val="tx2"/>
                </a:solidFill>
              </a:rPr>
              <a:t>Simulador del sensor y de la TFT; 109 funciones y 17 flujos</a:t>
            </a:r>
            <a:endParaRPr lang="en-US" sz="1500" dirty="0"/>
          </a:p>
        </p:txBody>
      </p:sp>
      <p:sp>
        <p:nvSpPr>
          <p:cNvPr id="11" name="Text 9"/>
          <p:cNvSpPr txBox="1"/>
          <p:nvPr/>
        </p:nvSpPr>
        <p:spPr>
          <a:xfrm>
            <a:off x="4517136" y="3429000"/>
            <a:ext cx="3154680" cy="365760"/>
          </a:xfrm>
          <a:prstGeom prst="rect">
            <a:avLst/>
          </a:prstGeom>
          <a:noFill/>
          <a:ln/>
        </p:spPr>
        <p:txBody>
          <a:bodyPr wrap="square" lIns="0" tIns="0" rIns="0" bIns="0" rtlCol="0" anchor="ctr"/>
          <a:lstStyle/>
          <a:p>
            <a:pPr indent="0" marL="0">
              <a:buNone/>
            </a:pPr>
            <a:r>
              <a:rPr lang="en-US" sz="1600" b="1" dirty="0">
                <a:solidFill>
                  <a:schemeClr val="accent2"/>
                </a:solidFill>
              </a:rPr>
              <a:t>Pendiente de ejecución</a:t>
            </a:r>
            <a:endParaRPr lang="en-US" sz="1600" dirty="0"/>
          </a:p>
        </p:txBody>
      </p:sp>
      <p:sp>
        <p:nvSpPr>
          <p:cNvPr id="12" name="Tarjeta 3 · Hardware"/>
          <p:cNvSpPr/>
          <p:nvPr/>
        </p:nvSpPr>
        <p:spPr>
          <a:xfrm>
            <a:off x="8119872" y="1554480"/>
            <a:ext cx="3520440" cy="2377440"/>
          </a:xfrm>
          <a:prstGeom prst="roundRect">
            <a:avLst>
              <a:gd name="adj" fmla="val 4615"/>
            </a:avLst>
          </a:prstGeom>
          <a:solidFill>
            <a:srgbClr val="F1F4F7"/>
          </a:solidFill>
          <a:ln w="12700">
            <a:solidFill>
              <a:srgbClr val="F1F4F7"/>
            </a:solidFill>
            <a:prstDash val="solid"/>
          </a:ln>
        </p:spPr>
      </p:sp>
      <p:sp>
        <p:nvSpPr>
          <p:cNvPr id="13" name="Text 11"/>
          <p:cNvSpPr txBox="1"/>
          <p:nvPr/>
        </p:nvSpPr>
        <p:spPr>
          <a:xfrm>
            <a:off x="8302752" y="1691640"/>
            <a:ext cx="31546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3 · Hardware</a:t>
            </a:r>
            <a:endParaRPr lang="en-US" sz="1800" dirty="0"/>
          </a:p>
        </p:txBody>
      </p:sp>
      <p:sp>
        <p:nvSpPr>
          <p:cNvPr id="14" name="Text 12"/>
          <p:cNvSpPr txBox="1"/>
          <p:nvPr/>
        </p:nvSpPr>
        <p:spPr>
          <a:xfrm>
            <a:off x="8302752" y="2148840"/>
            <a:ext cx="3154680" cy="1645920"/>
          </a:xfrm>
          <a:prstGeom prst="rect">
            <a:avLst/>
          </a:prstGeom>
          <a:noFill/>
          <a:ln/>
        </p:spPr>
        <p:txBody>
          <a:bodyPr wrap="square" lIns="0" tIns="0" rIns="0" bIns="0" rtlCol="0" anchor="t"/>
          <a:lstStyle/>
          <a:p>
            <a:pPr indent="0" marL="0">
              <a:buNone/>
            </a:pPr>
            <a:r>
              <a:rPr lang="en-US" sz="1500" dirty="0">
                <a:solidFill>
                  <a:schemeClr val="tx2"/>
                </a:solidFill>
              </a:rPr>
              <a:t>14 pruebas físicas H0–H13 con el ESP32, el sensor y la TFT</a:t>
            </a:r>
            <a:endParaRPr lang="en-US" sz="1500" dirty="0"/>
          </a:p>
        </p:txBody>
      </p:sp>
      <p:sp>
        <p:nvSpPr>
          <p:cNvPr id="15" name="Text 13"/>
          <p:cNvSpPr txBox="1"/>
          <p:nvPr/>
        </p:nvSpPr>
        <p:spPr>
          <a:xfrm>
            <a:off x="8302752" y="3429000"/>
            <a:ext cx="3154680" cy="365760"/>
          </a:xfrm>
          <a:prstGeom prst="rect">
            <a:avLst/>
          </a:prstGeom>
          <a:noFill/>
          <a:ln/>
        </p:spPr>
        <p:txBody>
          <a:bodyPr wrap="square" lIns="0" tIns="0" rIns="0" bIns="0" rtlCol="0" anchor="ctr"/>
          <a:lstStyle/>
          <a:p>
            <a:pPr indent="0" marL="0">
              <a:buNone/>
            </a:pPr>
            <a:r>
              <a:rPr lang="en-US" sz="1600" b="1" dirty="0">
                <a:solidFill>
                  <a:schemeClr val="accent2"/>
                </a:solidFill>
              </a:rPr>
              <a:t>Pendiente de ejecución</a:t>
            </a:r>
            <a:endParaRPr lang="en-US" sz="1600" dirty="0"/>
          </a:p>
        </p:txBody>
      </p:sp>
      <p:sp>
        <p:nvSpPr>
          <p:cNvPr id="16" name="Viñetas"/>
          <p:cNvSpPr txBox="1"/>
          <p:nvPr/>
        </p:nvSpPr>
        <p:spPr>
          <a:xfrm>
            <a:off x="548640" y="4251960"/>
            <a:ext cx="11094415" cy="1920240"/>
          </a:xfrm>
          <a:prstGeom prst="rect">
            <a:avLst/>
          </a:prstGeom>
          <a:noFill/>
          <a:ln/>
        </p:spPr>
        <p:txBody>
          <a:bodyPr wrap="square" rtlCol="0" anchor="t"/>
          <a:lstStyle/>
          <a:p>
            <a:pPr marL="342900" indent="-342900">
              <a:spcAft>
                <a:spcPts val="1000"/>
              </a:spcAft>
              <a:buSzPct val="100000"/>
              <a:buChar char="•"/>
            </a:pPr>
            <a:r>
              <a:rPr lang="en-US" sz="1700" dirty="0">
                <a:solidFill>
                  <a:schemeClr val="tx2"/>
                </a:solidFill>
              </a:rPr>
              <a:t>Ninguna prueba modifica Etapa9.ino: el MD5 se verifica antes y después.</a:t>
            </a:r>
            <a:endParaRPr lang="en-US" sz="1700" dirty="0"/>
          </a:p>
          <a:p>
            <a:pPr marL="342900" indent="-342900">
              <a:spcAft>
                <a:spcPts val="1000"/>
              </a:spcAft>
              <a:buSzPct val="100000"/>
              <a:buChar char="•"/>
            </a:pPr>
            <a:r>
              <a:rPr lang="en-US" sz="1700" dirty="0">
                <a:solidFill>
                  <a:schemeClr val="tx2"/>
                </a:solidFill>
              </a:rPr>
              <a:t>Se compila con el mismo preprocesador del IDE de Arduino.</a:t>
            </a:r>
            <a:endParaRPr lang="en-US" sz="1700" dirty="0"/>
          </a:p>
          <a:p>
            <a:pPr marL="342900" indent="-342900">
              <a:spcAft>
                <a:spcPts val="1000"/>
              </a:spcAft>
              <a:buSzPct val="100000"/>
              <a:buChar char="•"/>
            </a:pPr>
            <a:r>
              <a:rPr lang="en-US" sz="1700" dirty="0">
                <a:solidFill>
                  <a:schemeClr val="tx2"/>
                </a:solidFill>
              </a:rPr>
              <a:t>Cobertura gcov ≥ 85 %: objetivo, no criterio de aprobación.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RESULTADOS</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Resultados</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743200"/>
                <a:gridCol w="1737360"/>
                <a:gridCol w="4690872"/>
                <a:gridCol w="19202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Prueba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Tipo</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Resultado</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Estado</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Señal PPG (t), Etapa 4.1</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99.1 muestras/s, 0 pérdidas, correlación 0.98, 55.4×</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Aprobada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SpO₂ (w), Etapa 6.2</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35 latidos, R ≈ 0.375, CV ≈ 4 %, SpO₂ ≈ 99.9 %</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Con observaciones</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TFT, Etapas 7.1–7.3</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Peor caso de dibujo ≈ 18.3 ms; 5 min estables</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Aprobada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Integración, Etapa 7.3</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Errores I²C iniciales; luego 14 pérdidas y 1 desbordamiento</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Con observaciones</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Categoría 1</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PC (simulación)</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116/116 casos; 100 % de líneas y ramas; 16/16 mutantes</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Aprobada</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1F4F7"/>
                    </a:solidFill>
                  </a:tcPr>
                </a:tc>
              </a:tr>
              <a:tr h="0">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Etapa 9, H0–H13</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3D4A5C"/>
                          </a:solidFill>
                          <a:latin typeface="Calibri" pitchFamily="34" charset="0"/>
                          <a:ea typeface="Calibri" pitchFamily="34" charset="-122"/>
                          <a:cs typeface="Calibri" pitchFamily="34" charset="-120"/>
                        </a:rPr>
                        <a:t>Pendiente de ejecución</a:t>
                      </a:r>
                      <a:endParaRPr lang="en-US" sz="1400" dirty="0">
                        <a:latin typeface="Calibri" charset="0"/>
                        <a:ea typeface="Calibri" charset="0"/>
                        <a:cs typeface="Calibri" charset="0"/>
                      </a:endParaRPr>
                    </a:p>
                  </a:txBody>
                  <a:tcPr marL="73152" marR="73152" marT="73152" marB="7315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440680"/>
            <a:ext cx="11094415" cy="685800"/>
          </a:xfrm>
          <a:prstGeom prst="roundRect">
            <a:avLst>
              <a:gd name="adj" fmla="val 13333"/>
            </a:avLst>
          </a:prstGeom>
          <a:solidFill>
            <a:srgbClr val="E3EEF2"/>
          </a:solidFill>
          <a:ln w="12700">
            <a:solidFill>
              <a:srgbClr val="E3EEF2"/>
            </a:solidFill>
            <a:prstDash val="solid"/>
          </a:ln>
        </p:spPr>
      </p:sp>
      <p:sp>
        <p:nvSpPr>
          <p:cNvPr id="6" name="Text 3"/>
          <p:cNvSpPr txBox="1"/>
          <p:nvPr/>
        </p:nvSpPr>
        <p:spPr>
          <a:xfrm>
            <a:off x="777240" y="5440680"/>
            <a:ext cx="10637215" cy="685800"/>
          </a:xfrm>
          <a:prstGeom prst="rect">
            <a:avLst/>
          </a:prstGeom>
          <a:noFill/>
          <a:ln/>
        </p:spPr>
        <p:txBody>
          <a:bodyPr wrap="square" lIns="0" tIns="0" rIns="0" bIns="0" rtlCol="0" anchor="ctr"/>
          <a:lstStyle/>
          <a:p>
            <a:pPr indent="0" marL="0">
              <a:buNone/>
            </a:pPr>
            <a:r>
              <a:rPr lang="en-US" sz="1600" b="1" dirty="0">
                <a:solidFill>
                  <a:schemeClr val="tx1"/>
                </a:solidFill>
              </a:rPr>
              <a:t>Los resultados de PC son simulación y no sustituyen a las pruebas físicas de la versión actual.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LIMITACIONES</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Lo que este prototipo no es</a:t>
            </a:r>
            <a:endParaRPr lang="en-US" sz="3400" dirty="0"/>
          </a:p>
        </p:txBody>
      </p:sp>
      <p:sp>
        <p:nvSpPr>
          <p:cNvPr id="4" name="Viñetas"/>
          <p:cNvSpPr txBox="1"/>
          <p:nvPr/>
        </p:nvSpPr>
        <p:spPr>
          <a:xfrm>
            <a:off x="548640" y="1600200"/>
            <a:ext cx="11094415" cy="3566160"/>
          </a:xfrm>
          <a:prstGeom prst="rect">
            <a:avLst/>
          </a:prstGeom>
          <a:noFill/>
          <a:ln/>
        </p:spPr>
        <p:txBody>
          <a:bodyPr wrap="square" rtlCol="0" anchor="t"/>
          <a:lstStyle/>
          <a:p>
            <a:pPr marL="342900" indent="-342900">
              <a:spcAft>
                <a:spcPts val="1000"/>
              </a:spcAft>
              <a:buSzPct val="100000"/>
              <a:buChar char="•"/>
            </a:pPr>
            <a:r>
              <a:rPr lang="en-US" sz="1800" dirty="0">
                <a:solidFill>
                  <a:schemeClr val="tx2"/>
                </a:solidFill>
              </a:rPr>
              <a:t>No es un dispositivo médico certificado ni sustituye a un monitor clínico.</a:t>
            </a:r>
            <a:endParaRPr lang="en-US" sz="1800" dirty="0"/>
          </a:p>
          <a:p>
            <a:pPr marL="342900" indent="-342900">
              <a:spcAft>
                <a:spcPts val="1000"/>
              </a:spcAft>
              <a:buSzPct val="100000"/>
              <a:buChar char="•"/>
            </a:pPr>
            <a:r>
              <a:rPr lang="en-US" sz="1800" dirty="0">
                <a:solidFill>
                  <a:schemeClr val="tx2"/>
                </a:solidFill>
              </a:rPr>
              <a:t>La SpO₂ no tiene validación clínica: curva genérica, sin oxímetro de referencia.</a:t>
            </a:r>
            <a:endParaRPr lang="en-US" sz="1800" dirty="0"/>
          </a:p>
          <a:p>
            <a:pPr marL="342900" indent="-342900">
              <a:spcAft>
                <a:spcPts val="1000"/>
              </a:spcAft>
              <a:buSzPct val="100000"/>
              <a:buChar char="•"/>
            </a:pPr>
            <a:r>
              <a:rPr lang="en-US" sz="1800" dirty="0">
                <a:solidFill>
                  <a:schemeClr val="tx2"/>
                </a:solidFill>
              </a:rPr>
              <a:t>La exactitud clínica no se demostró, ni de la SpO₂ ni del BPM.</a:t>
            </a:r>
            <a:endParaRPr lang="en-US" sz="1800" dirty="0"/>
          </a:p>
          <a:p>
            <a:pPr marL="342900" indent="-342900">
              <a:spcAft>
                <a:spcPts val="1000"/>
              </a:spcAft>
              <a:buSzPct val="100000"/>
              <a:buChar char="•"/>
            </a:pPr>
            <a:r>
              <a:rPr lang="en-US" sz="1800" dirty="0">
                <a:solidFill>
                  <a:schemeClr val="tx2"/>
                </a:solidFill>
              </a:rPr>
              <a:t>No debe usarse para diagnóstico ni para decisiones de salud.</a:t>
            </a:r>
            <a:endParaRPr lang="en-US" sz="1800" dirty="0"/>
          </a:p>
          <a:p>
            <a:pPr marL="342900" indent="-342900">
              <a:spcAft>
                <a:spcPts val="1000"/>
              </a:spcAft>
              <a:buSzPct val="100000"/>
              <a:buChar char="•"/>
            </a:pPr>
            <a:r>
              <a:rPr lang="en-US" sz="1800" dirty="0">
                <a:solidFill>
                  <a:schemeClr val="tx2"/>
                </a:solidFill>
              </a:rPr>
              <a:t>Técnicas: Etapa 9 sin pruebas físicas; filtros con fs nominal; sin alarmas ni registro.</a:t>
            </a:r>
            <a:endParaRPr lang="en-US" sz="1800" dirty="0"/>
          </a:p>
        </p:txBody>
      </p:sp>
      <p:sp>
        <p:nvSpPr>
          <p:cNvPr id="5" name="Shape 3"/>
          <p:cNvSpPr/>
          <p:nvPr/>
        </p:nvSpPr>
        <p:spPr>
          <a:xfrm>
            <a:off x="548640" y="5349240"/>
            <a:ext cx="11094415" cy="777240"/>
          </a:xfrm>
          <a:prstGeom prst="roundRect">
            <a:avLst>
              <a:gd name="adj" fmla="val 11765"/>
            </a:avLst>
          </a:prstGeom>
          <a:solidFill>
            <a:srgbClr val="F8E7DA"/>
          </a:solidFill>
          <a:ln w="12700">
            <a:solidFill>
              <a:srgbClr val="F8E7DA"/>
            </a:solidFill>
            <a:prstDash val="solid"/>
          </a:ln>
        </p:spPr>
      </p:sp>
      <p:sp>
        <p:nvSpPr>
          <p:cNvPr id="6" name="Text 4"/>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600" b="1" dirty="0">
                <a:solidFill>
                  <a:schemeClr val="tx1"/>
                </a:solidFill>
              </a:rPr>
              <a:t>El proyecto se centra en la adquisición, el procesamiento, la visualización y la validación experimental.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CIERRE</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Conclusiones</a:t>
            </a:r>
            <a:endParaRPr lang="en-US" sz="3400" dirty="0"/>
          </a:p>
        </p:txBody>
      </p:sp>
      <p:sp>
        <p:nvSpPr>
          <p:cNvPr id="4" name="Viñetas"/>
          <p:cNvSpPr txBox="1"/>
          <p:nvPr/>
        </p:nvSpPr>
        <p:spPr>
          <a:xfrm>
            <a:off x="548640" y="1600200"/>
            <a:ext cx="11094415" cy="4572000"/>
          </a:xfrm>
          <a:prstGeom prst="rect">
            <a:avLst/>
          </a:prstGeom>
          <a:noFill/>
          <a:ln/>
        </p:spPr>
        <p:txBody>
          <a:bodyPr wrap="square" rtlCol="0" anchor="t"/>
          <a:lstStyle/>
          <a:p>
            <a:pPr marL="342900" indent="-342900">
              <a:spcAft>
                <a:spcPts val="1000"/>
              </a:spcAft>
              <a:buSzPct val="100000"/>
              <a:buChar char="•"/>
            </a:pPr>
            <a:r>
              <a:rPr lang="en-US" sz="1900" dirty="0">
                <a:solidFill>
                  <a:schemeClr val="tx2"/>
                </a:solidFill>
              </a:rPr>
              <a:t>Se construyó la cadena completa, del sensor a la pantalla, con un firmware trazable de 154 funciones.</a:t>
            </a:r>
            <a:endParaRPr lang="en-US" sz="1900" dirty="0"/>
          </a:p>
          <a:p>
            <a:pPr marL="342900" indent="-342900">
              <a:spcAft>
                <a:spcPts val="1000"/>
              </a:spcAft>
              <a:buSzPct val="100000"/>
              <a:buChar char="•"/>
            </a:pPr>
            <a:r>
              <a:rPr lang="en-US" sz="1900" dirty="0">
                <a:solidFill>
                  <a:schemeClr val="tx2"/>
                </a:solidFill>
              </a:rPr>
              <a:t>La adquisición y la señal PPG quedaron validadas en hardware en la Etapa 4.1: 99.1 muestras/s y 0 pérdidas.</a:t>
            </a:r>
            <a:endParaRPr lang="en-US" sz="1900" dirty="0"/>
          </a:p>
          <a:p>
            <a:pPr marL="342900" indent="-342900">
              <a:spcAft>
                <a:spcPts val="1000"/>
              </a:spcAft>
              <a:buSzPct val="100000"/>
              <a:buChar char="•"/>
            </a:pPr>
            <a:r>
              <a:rPr lang="en-US" sz="1900" dirty="0">
                <a:solidFill>
                  <a:schemeClr val="tx2"/>
                </a:solidFill>
              </a:rPr>
              <a:t>R es estable en reposo (CV ≈ 4 %), pero la SpO₂ que se calcula con ella sigue siendo experimental.</a:t>
            </a:r>
            <a:endParaRPr lang="en-US" sz="1900" dirty="0"/>
          </a:p>
          <a:p>
            <a:pPr marL="342900" indent="-342900">
              <a:spcAft>
                <a:spcPts val="1000"/>
              </a:spcAft>
              <a:buSzPct val="100000"/>
              <a:buChar char="•"/>
            </a:pPr>
            <a:r>
              <a:rPr lang="en-US" sz="1900" dirty="0">
                <a:solidFill>
                  <a:schemeClr val="tx2"/>
                </a:solidFill>
              </a:rPr>
              <a:t>La interfaz no compromete la adquisición y oculta los valores que no son confiables.</a:t>
            </a:r>
            <a:endParaRPr lang="en-US" sz="1900" dirty="0"/>
          </a:p>
          <a:p>
            <a:pPr marL="342900" indent="-342900">
              <a:spcAft>
                <a:spcPts val="1000"/>
              </a:spcAft>
              <a:buSzPct val="100000"/>
              <a:buChar char="•"/>
            </a:pPr>
            <a:r>
              <a:rPr lang="en-US" sz="1900" dirty="0">
                <a:solidFill>
                  <a:schemeClr val="tx2"/>
                </a:solidFill>
              </a:rPr>
              <a:t>El proyecto no está completamente validado: faltan las pruebas físicas de la Etapa 9.</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p>
            <a:pPr indent="0" marL="0">
              <a:buNone/>
            </a:pPr>
            <a:r>
              <a:rPr lang="en-US" sz="1300" b="1" spc="200" kern="0" dirty="0">
                <a:solidFill>
                  <a:schemeClr val="accent1"/>
                </a:solidFill>
              </a:rPr>
              <a:t>CIERRE</a:t>
            </a:r>
            <a:endParaRPr lang="en-US" sz="1300" dirty="0"/>
          </a:p>
        </p:txBody>
      </p:sp>
      <p:sp>
        <p:nvSpPr>
          <p:cNvPr id="3" name="Text 0"/>
          <p:cNvSpPr/>
          <p:nvPr>
            <p:ph idx="101" type="title" hasCustomPrompt="1"/>
          </p:nvPr>
        </p:nvSpPr>
        <p:spPr>
          <a:xfrm>
            <a:off x="548640" y="621792"/>
            <a:ext cx="11094415" cy="731520"/>
          </a:xfrm>
          <a:prstGeom prst="rect">
            <a:avLst/>
          </a:prstGeom>
          <a:noFill/>
          <a:ln/>
        </p:spPr>
        <p:txBody>
          <a:bodyPr wrap="square" rtlCol="0" anchor="t"/>
          <a:lstStyle/>
          <a:p>
            <a:pPr algn="l" indent="0" marL="0">
              <a:buNone/>
            </a:pPr>
            <a:r>
              <a:rPr lang="en-US" sz="3400" b="1" dirty="0">
                <a:solidFill>
                  <a:schemeClr val="tx1"/>
                </a:solidFill>
              </a:rPr>
              <a:t>Trabajo futuro</a:t>
            </a:r>
            <a:endParaRPr lang="en-US" sz="3400" dirty="0"/>
          </a:p>
        </p:txBody>
      </p:sp>
      <p:sp>
        <p:nvSpPr>
          <p:cNvPr id="4" name="Tarjeta Cerrar la validación"/>
          <p:cNvSpPr/>
          <p:nvPr/>
        </p:nvSpPr>
        <p:spPr>
          <a:xfrm>
            <a:off x="548640" y="1600200"/>
            <a:ext cx="3520440" cy="3108960"/>
          </a:xfrm>
          <a:prstGeom prst="roundRect">
            <a:avLst>
              <a:gd name="adj" fmla="val 3529"/>
            </a:avLst>
          </a:prstGeom>
          <a:solidFill>
            <a:srgbClr val="F1F4F7"/>
          </a:solidFill>
          <a:ln w="12700">
            <a:solidFill>
              <a:srgbClr val="F1F4F7"/>
            </a:solidFill>
            <a:prstDash val="solid"/>
          </a:ln>
        </p:spPr>
      </p:sp>
      <p:sp>
        <p:nvSpPr>
          <p:cNvPr id="5" name="Text 3"/>
          <p:cNvSpPr txBox="1"/>
          <p:nvPr/>
        </p:nvSpPr>
        <p:spPr>
          <a:xfrm>
            <a:off x="731520" y="1737360"/>
            <a:ext cx="31546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Cerrar la validación</a:t>
            </a:r>
            <a:endParaRPr lang="en-US" sz="1800" dirty="0"/>
          </a:p>
        </p:txBody>
      </p:sp>
      <p:sp>
        <p:nvSpPr>
          <p:cNvPr id="6" name="Text 4"/>
          <p:cNvSpPr txBox="1"/>
          <p:nvPr/>
        </p:nvSpPr>
        <p:spPr>
          <a:xfrm>
            <a:off x="731520" y="2194560"/>
            <a:ext cx="3154680" cy="2377440"/>
          </a:xfrm>
          <a:prstGeom prst="rect">
            <a:avLst/>
          </a:prstGeom>
          <a:noFill/>
          <a:ln/>
        </p:spPr>
        <p:txBody>
          <a:bodyPr wrap="square" lIns="0" tIns="0" rIns="0" bIns="0" rtlCol="0" anchor="t"/>
          <a:lstStyle/>
          <a:p>
            <a:pPr indent="0" marL="0">
              <a:buNone/>
            </a:pPr>
            <a:r>
              <a:rPr lang="en-US" sz="1600" dirty="0">
                <a:solidFill>
                  <a:schemeClr val="tx2"/>
                </a:solidFill>
              </a:rPr>
              <a:t>• Ejecutar H0–H13 en hardware</a:t>
            </a:r>
            <a:endParaRPr lang="en-US" sz="1600" dirty="0"/>
          </a:p>
          <a:p>
            <a:pPr indent="0" marL="0">
              <a:buNone/>
            </a:pPr>
            <a:r>
              <a:rPr lang="en-US" sz="1600" dirty="0">
                <a:solidFill>
                  <a:schemeClr val="tx2"/>
                </a:solidFill>
              </a:rPr>
              <a:t>• Integración en PC: 2a–2g y E1–E17</a:t>
            </a:r>
            <a:endParaRPr lang="en-US" sz="1600" dirty="0"/>
          </a:p>
        </p:txBody>
      </p:sp>
      <p:sp>
        <p:nvSpPr>
          <p:cNvPr id="7" name="Tarjeta Mejorar la medición"/>
          <p:cNvSpPr/>
          <p:nvPr/>
        </p:nvSpPr>
        <p:spPr>
          <a:xfrm>
            <a:off x="4334256" y="1600200"/>
            <a:ext cx="3520440" cy="3108960"/>
          </a:xfrm>
          <a:prstGeom prst="roundRect">
            <a:avLst>
              <a:gd name="adj" fmla="val 3529"/>
            </a:avLst>
          </a:prstGeom>
          <a:solidFill>
            <a:srgbClr val="F1F4F7"/>
          </a:solidFill>
          <a:ln w="12700">
            <a:solidFill>
              <a:srgbClr val="F1F4F7"/>
            </a:solidFill>
            <a:prstDash val="solid"/>
          </a:ln>
        </p:spPr>
      </p:sp>
      <p:sp>
        <p:nvSpPr>
          <p:cNvPr id="8" name="Text 6"/>
          <p:cNvSpPr txBox="1"/>
          <p:nvPr/>
        </p:nvSpPr>
        <p:spPr>
          <a:xfrm>
            <a:off x="4517136" y="1737360"/>
            <a:ext cx="31546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Mejorar la medición</a:t>
            </a:r>
            <a:endParaRPr lang="en-US" sz="1800" dirty="0"/>
          </a:p>
        </p:txBody>
      </p:sp>
      <p:sp>
        <p:nvSpPr>
          <p:cNvPr id="9" name="Text 7"/>
          <p:cNvSpPr txBox="1"/>
          <p:nvPr/>
        </p:nvSpPr>
        <p:spPr>
          <a:xfrm>
            <a:off x="4517136" y="2194560"/>
            <a:ext cx="3154680" cy="2377440"/>
          </a:xfrm>
          <a:prstGeom prst="rect">
            <a:avLst/>
          </a:prstGeom>
          <a:noFill/>
          <a:ln/>
        </p:spPr>
        <p:txBody>
          <a:bodyPr wrap="square" lIns="0" tIns="0" rIns="0" bIns="0" rtlCol="0" anchor="t"/>
          <a:lstStyle/>
          <a:p>
            <a:pPr indent="0" marL="0">
              <a:buNone/>
            </a:pPr>
            <a:r>
              <a:rPr lang="en-US" sz="1600" dirty="0">
                <a:solidFill>
                  <a:schemeClr val="tx2"/>
                </a:solidFill>
              </a:rPr>
              <a:t>• Calibrar la curva con un oxímetro de referencia</a:t>
            </a:r>
            <a:endParaRPr lang="en-US" sz="1600" dirty="0"/>
          </a:p>
          <a:p>
            <a:pPr indent="0" marL="0">
              <a:buNone/>
            </a:pPr>
            <a:r>
              <a:rPr lang="en-US" sz="1600" dirty="0">
                <a:solidFill>
                  <a:schemeClr val="tx2"/>
                </a:solidFill>
              </a:rPr>
              <a:t>• Filtros con la fs medida y corriente de LED automática</a:t>
            </a:r>
            <a:endParaRPr lang="en-US" sz="1600" dirty="0"/>
          </a:p>
        </p:txBody>
      </p:sp>
      <p:sp>
        <p:nvSpPr>
          <p:cNvPr id="10" name="Tarjeta Integrar al hospital"/>
          <p:cNvSpPr/>
          <p:nvPr/>
        </p:nvSpPr>
        <p:spPr>
          <a:xfrm>
            <a:off x="8119872" y="1600200"/>
            <a:ext cx="3520440" cy="3108960"/>
          </a:xfrm>
          <a:prstGeom prst="roundRect">
            <a:avLst>
              <a:gd name="adj" fmla="val 3529"/>
            </a:avLst>
          </a:prstGeom>
          <a:solidFill>
            <a:srgbClr val="F1F4F7"/>
          </a:solidFill>
          <a:ln w="12700">
            <a:solidFill>
              <a:srgbClr val="F1F4F7"/>
            </a:solidFill>
            <a:prstDash val="solid"/>
          </a:ln>
        </p:spPr>
      </p:sp>
      <p:sp>
        <p:nvSpPr>
          <p:cNvPr id="11" name="Text 9"/>
          <p:cNvSpPr txBox="1"/>
          <p:nvPr/>
        </p:nvSpPr>
        <p:spPr>
          <a:xfrm>
            <a:off x="8302752" y="1737360"/>
            <a:ext cx="315468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Integrar al hospital</a:t>
            </a:r>
            <a:endParaRPr lang="en-US" sz="1800" dirty="0"/>
          </a:p>
        </p:txBody>
      </p:sp>
      <p:sp>
        <p:nvSpPr>
          <p:cNvPr id="12" name="Text 10"/>
          <p:cNvSpPr txBox="1"/>
          <p:nvPr/>
        </p:nvSpPr>
        <p:spPr>
          <a:xfrm>
            <a:off x="8302752" y="2194560"/>
            <a:ext cx="3154680" cy="2377440"/>
          </a:xfrm>
          <a:prstGeom prst="rect">
            <a:avLst/>
          </a:prstGeom>
          <a:noFill/>
          <a:ln/>
        </p:spPr>
        <p:txBody>
          <a:bodyPr wrap="square" lIns="0" tIns="0" rIns="0" bIns="0" rtlCol="0" anchor="t"/>
          <a:lstStyle/>
          <a:p>
            <a:pPr indent="0" marL="0">
              <a:buNone/>
            </a:pPr>
            <a:r>
              <a:rPr lang="en-US" sz="1600" dirty="0">
                <a:solidFill>
                  <a:schemeClr val="tx2"/>
                </a:solidFill>
              </a:rPr>
              <a:t>• Enviar valor, calidad y estado a un sistema de información</a:t>
            </a:r>
            <a:endParaRPr lang="en-US" sz="1600" dirty="0"/>
          </a:p>
          <a:p>
            <a:pPr indent="0" marL="0">
              <a:buNone/>
            </a:pPr>
            <a:r>
              <a:rPr lang="en-US" sz="1600" dirty="0">
                <a:solidFill>
                  <a:schemeClr val="tx2"/>
                </a:solidFill>
              </a:rPr>
              <a:t>• Interoperabilidad, por ejemplo HL7 FHIR</a:t>
            </a:r>
            <a:endParaRPr lang="en-US" sz="1600" dirty="0"/>
          </a:p>
        </p:txBody>
      </p:sp>
      <p:sp>
        <p:nvSpPr>
          <p:cNvPr id="13" name="Shape 11"/>
          <p:cNvSpPr/>
          <p:nvPr/>
        </p:nvSpPr>
        <p:spPr>
          <a:xfrm>
            <a:off x="548640" y="5120640"/>
            <a:ext cx="11094415" cy="731520"/>
          </a:xfrm>
          <a:prstGeom prst="roundRect">
            <a:avLst>
              <a:gd name="adj" fmla="val 12500"/>
            </a:avLst>
          </a:prstGeom>
          <a:solidFill>
            <a:srgbClr val="E3EEF2"/>
          </a:solidFill>
          <a:ln w="12700">
            <a:solidFill>
              <a:srgbClr val="E3EEF2"/>
            </a:solidFill>
            <a:prstDash val="solid"/>
          </a:ln>
        </p:spPr>
      </p:sp>
      <p:sp>
        <p:nvSpPr>
          <p:cNvPr id="14" name="Text 12"/>
          <p:cNvSpPr txBox="1"/>
          <p:nvPr/>
        </p:nvSpPr>
        <p:spPr>
          <a:xfrm>
            <a:off x="777240" y="5120640"/>
            <a:ext cx="10637215" cy="731520"/>
          </a:xfrm>
          <a:prstGeom prst="rect">
            <a:avLst/>
          </a:prstGeom>
          <a:noFill/>
          <a:ln/>
        </p:spPr>
        <p:txBody>
          <a:bodyPr wrap="square" lIns="0" tIns="0" rIns="0" bIns="0" rtlCol="0" anchor="ctr"/>
          <a:lstStyle/>
          <a:p>
            <a:pPr indent="0" marL="0">
              <a:buNone/>
            </a:pPr>
            <a:r>
              <a:rPr lang="en-US" sz="1600" b="1" dirty="0">
                <a:solidFill>
                  <a:schemeClr val="tx1"/>
                </a:solidFill>
              </a:rPr>
              <a:t>Cualquier cambio de firmware implica nueva versión, nuevo MD5 y nueva validación.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097280"/>
          </a:xfrm>
          <a:prstGeom prst="rect">
            <a:avLst/>
          </a:prstGeom>
          <a:noFill/>
          <a:ln/>
        </p:spPr>
        <p:txBody>
          <a:bodyPr wrap="square" rtlCol="0"/>
          <a:lstStyle/>
          <a:p>
            <a:pPr algn="l" indent="0" marL="0">
              <a:buNone/>
            </a:pPr>
            <a:r>
              <a:rPr lang="en-US" sz="4400" b="1" dirty="0">
                <a:solidFill>
                  <a:schemeClr val="bg1"/>
                </a:solidFill>
              </a:rPr>
              <a:t>Preguntas</a:t>
            </a:r>
            <a:endParaRPr lang="en-US" sz="4400" dirty="0"/>
          </a:p>
        </p:txBody>
      </p:sp>
      <p:sp>
        <p:nvSpPr>
          <p:cNvPr id="3" name="Text 1"/>
          <p:cNvSpPr txBox="1"/>
          <p:nvPr/>
        </p:nvSpPr>
        <p:spPr>
          <a:xfrm>
            <a:off x="548640" y="3108960"/>
            <a:ext cx="9144000" cy="822960"/>
          </a:xfrm>
          <a:prstGeom prst="rect">
            <a:avLst/>
          </a:prstGeom>
          <a:noFill/>
          <a:ln/>
        </p:spPr>
        <p:txBody>
          <a:bodyPr wrap="square" lIns="0" tIns="0" rIns="0" bIns="0" rtlCol="0" anchor="ctr"/>
          <a:lstStyle/>
          <a:p>
            <a:pPr indent="0" marL="0">
              <a:buNone/>
            </a:pPr>
            <a:r>
              <a:rPr lang="en-US" sz="1800" dirty="0">
                <a:solidFill>
                  <a:srgbClr val="CADCE6"/>
                </a:solidFill>
              </a:rPr>
              <a:t>Documentación técnica, manual de usuario, plan de pruebas y expediente de evidencias disponibles para revisión.</a:t>
            </a:r>
            <a:endParaRPr lang="en-US" sz="1800" dirty="0"/>
          </a:p>
        </p:txBody>
      </p:sp>
      <p:sp>
        <p:nvSpPr>
          <p:cNvPr id="4" name="Text 2"/>
          <p:cNvSpPr txBox="1"/>
          <p:nvPr/>
        </p:nvSpPr>
        <p:spPr>
          <a:xfrm>
            <a:off x="548640" y="4206240"/>
            <a:ext cx="9144000" cy="457200"/>
          </a:xfrm>
          <a:prstGeom prst="rect">
            <a:avLst/>
          </a:prstGeom>
          <a:noFill/>
          <a:ln/>
        </p:spPr>
        <p:txBody>
          <a:bodyPr wrap="square" lIns="0" tIns="0" rIns="0" bIns="0" rtlCol="0" anchor="ctr"/>
          <a:lstStyle/>
          <a:p>
            <a:pPr indent="0" marL="0">
              <a:buNone/>
            </a:pPr>
            <a:r>
              <a:rPr lang="en-US" sz="1600" dirty="0">
                <a:solidFill>
                  <a:srgbClr val="8A96A8"/>
                </a:solidFill>
              </a:rPr>
              <a:t>[Autor] · [Correo institucional]</a:t>
            </a:r>
            <a:endParaRPr lang="en-US" sz="1600" dirty="0"/>
          </a:p>
        </p:txBody>
      </p:sp>
    </p:spTree>
  </p:cSld>
  <p:clrMapOvr>
    <a:masterClrMapping/>
  </p:clrMapOvr>
</p:sld>
</file>

<file path=ppt/theme/theme1.xml><?xml version="1.0" encoding="utf-8"?>
<a:theme xmlns:a="http://schemas.openxmlformats.org/drawingml/2006/main" name="Monitor PPG">
  <a:themeElements>
    <a:clrScheme name="Monitor PPG">
      <a:dk1>
        <a:srgbClr val="14213D"/>
      </a:dk1>
      <a:lt1>
        <a:srgbClr val="FFFFFF"/>
      </a:lt1>
      <a:dk2>
        <a:srgbClr val="3D4A5C"/>
      </a:dk2>
      <a:lt2>
        <a:srgbClr val="F1F4F7"/>
      </a:lt2>
      <a:accent1>
        <a:srgbClr val="1F6F8B"/>
      </a:accent1>
      <a:accent2>
        <a:srgbClr val="C2571A"/>
      </a:accent2>
      <a:accent3>
        <a:srgbClr val="2E8B57"/>
      </a:accent3>
      <a:accent4>
        <a:srgbClr val="8A96A8"/>
      </a:accent4>
      <a:accent5>
        <a:srgbClr val="B7791F"/>
      </a:accent5>
      <a:accent6>
        <a:srgbClr val="6B7686"/>
      </a:accent6>
      <a:hlink>
        <a:srgbClr val="1F6F8B"/>
      </a:hlink>
      <a:folHlink>
        <a:srgbClr val="6B7686"/>
      </a:folHlink>
    </a:clrScheme>
    <a:fontScheme name="Monitor PP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 experimental de FC y SpO2 mediante señal PPG</dc:title>
  <dc:subject>Prototipo académico ESP32 + MAX30102 + TFT ST7735</dc:subject>
  <dc:creator>PptxGenJS</dc:creator>
  <cp:lastModifiedBy>PptxGenJS</cp:lastModifiedBy>
  <cp:revision>1</cp:revision>
  <dcterms:created xsi:type="dcterms:W3CDTF">2026-10-09T17:42:10Z</dcterms:created>
  <dcterms:modified xsi:type="dcterms:W3CDTF">2026-10-09T17:42:10Z</dcterms:modified>
</cp:coreProperties>
</file>